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walks through the Kubernetes Observability Pipeline project end to end: what was built, why each technology was chosen, and — most importantly for interview prep — the real problems that came up during implementation and exactly how each one was diagnosed and fixed. Every 'Problem / Fix' card in this deck maps to something that actually happened during the build, not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requirements came directly from the company assignment. The framing for the interview: this wasn't just 'deploy some tools' — it required infrastructure-as-code discipline (Terraform), a real DaemonSet architecture (Vector), a working ingestion pipeline into a self-hosted observability platform (OpenObserve), and documentation/version control hygiene (GitHub). The rest of this deck follows that same order, and highlights the specific problems hit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data flow: VPC → EKS → Vector DaemonSet → OpenObserve → dashboards. The key architectural decision to call out in an interview is *why* Vector runs as a DaemonSet — one pod per node means node-level log collection with no single point of failure, and it naturally scales with the cluster. Also worth mentioning: OpenObserve was deployed inside the cluster (not OpenObserve Cloud) and Vector talks to it over internal Kubernetes DNS (openobserve.openobserve.svc.cluster.local) rather than a public endpoint — that was a deliberate security choice, not a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good one to have memorized for a rapid-fire 'why did you use X' round. The short version: Terraform gives reproducibility and code review for infra; EKS removes control-plane operational burden; Vector is a single lightweight agent that can source, transform, and sink data instead of stitching together separate collectors and shippers; OpenObserve was chosen over a SaaS platform to keep the assignment self-contained and cost-controlled, since it runs inside the same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infrastructure was 100% code-defined — nothing was clicked together manually in the AWS console. The 64-resource apply is a good concrete number to cite. The security decision worth highlighting: instead of leaving the EKS API endpoint open to 0.0.0.0/0, it was scoped to a single /32 CIDR — the engineer's own public IP — passed in as a Terraform variable. That's the kind of least-privilege default an interviewer likes to hear you chose deliberately, not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 fix to narrate here: t3.micro was the initial node type, but it didn't have enough headroom once Vector (running on every node) and OpenObserve were both scheduled — moved to t3.small and the resource pressure went away. Also worth mentioning prefix delegation on the VPC CNI: with 4 Vector pods plus OpenObserve plus normal cluster workloads, IP address allocation efficiency mattered, so ENABLE_PREFIX_DELEGATION and WARM_PREFIX_TARGET were tuned rather than left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'security-mindedness' slide for an interview. Three angles: at the AWS layer, access to the EKS control plane itself was locked to one IP instead of the internet; at the Kubernetes layer, Vector only has the RBAC permissions it actually needs (get/list/watch on pods/namespaces/nodes) and secrets are injected via Kubernetes Secrets + env vars rather than baked into YAML; at the Git layer, the repo was actively grepped for password/secret/token patterns before pushing, and GitHub auth used a scoped PAT instead of an account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feedback-loop problem is a great one to walk through in an interview because it shows systems thinking, not just tool usage: Vector collects logs from every namespace by default, and OpenObserve was deployed in its own namespace inside the same cluster it's monitoring. Without intervention, Vector would happily scrape OpenObserve's own container logs and ship them back into OpenObserve — a small feedback loop that would pollute the log stream and waste ingestion. The fix was a one-line namespace label, vector.dev/exclude=true, which Vector's kubernetes_logs source respects out of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Problem/fix to narrate: the Helm chart install kept timing out mid-download from the remote repo. Rather than retrying the same failing command repeatedly, the chart was pulled locally first (helm pull) and then installed from that local .tgz file — this sidesteps flaky network conditions during the install step itself and is a good general Helm troubleshooting pattern to mention. Also worth noting: OpenObserve was never exposed publicly — access was internal-DNS-only plus kubectl port-forward for local development, and its root password was pulled from the auto-generated Kubernetes Secret rather than set or stored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as a pipeline: parse the JSON message, cast the status to an integer, then a threshold check (&gt;=500 error, &gt;=400 warn, else info) drives the 'level' field the dashboards later group by. The specific examples — 403/410 as warn, 550 as error — are worth having ready if asked for a concrete case. Every event, real or dummy, gets tagged with service/namespace/log_source so the same dashboard panels work for both Kubernetes-native logs and the synthetic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meatier debugging stories in the project. Sending metrics through a plain remap transform produced HTTP 400s from OpenObserve's metrics ingestion endpoint — the shape of the data didn't match what OpenObserve expected. The fix was architectural, not a one-line patch: introduce Vector's metric_to_log transform to flatten metrics into log-shaped JSON, then run that through a metadata normalization step that adds __name__, metric_name, service, environment, __type__ (gauge vs counter) and value before sending to OpenObserve's /api/default/ingest/metrics/_json endpoint. ingestion_events_total was explicitly classified as a counter, the others as gauges.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single best 'tell me about a time you debugged something hard' answer from the project. The symptom was cryptic: 'parse_json expected string got null' plus HTTP 400s from OpenObserve. The root cause wasn't obvious from the error message alone — it required looking at *where* in the config the VRL block lived. The diagnostic tool that mattered was Vector's own API and the 'vector tap' command, which lets you watch events flowing through a named transform in real time without touching OpenObserve at all. That isolated the bug to the wrong transform receiving log-shaped VRL logic. The fix was to separate the two pipelines cleanly — log parsing only in the log transform, metric normalization only in the metric transform — and re-verify with tap before trusting OpenObserve ingestion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dashboards were exported as JSON and committed to the repo, which directly satisfies the assignment's dashboard-export requirement. Note the ingestion-rate panel validates the whole pipeline end to end: with 4 Vector pods each generating ~1 event/sec, the dashboard should show ~4 events/sec, and it did — that's a nice concrete way to say 'I verified the pipeline was working, not just that it was deployed.' Small problem/fix worth mentioning: a custom histogram SQL query threw a 'Search SQL execute error'; instead of debugging hand-written SQL, the built-in Histogram feature in OpenObserve's UI was used instead — pragmatic choice, not a workaround to be embarrassed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Git problems here, both common in real teams. First: GitHub's move away from password auth over HTTPS meant a Personal Access Token was required — but the first token was scoped read-only, giving a 403 on push, and had to be reissued with write access. Second: a genuine branch-divergence situation where local and remote main each had a commit the other lacked. The safe move — merging with --no-rebase --allow-unrelated-histories — was chosen deliberately over force-pushing, which would have silently destroyed a commit. Worth noting as a judgment call: Terraform state is normally excluded from Git for security, but this assignment specifically required it, so it was force-added on purpose rather than by accident, and the repo was grepped for leaked secrets before the final push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engineering judgment beyond 'did the task run.' The assignment's 5 GB/hour spec was a target for a full load test, not a requirement to run continuously during iterative development. The decision made here was to validate the entire pipeline — generation → Vector → transformation → OpenObserve → dashboard — at a much lower, controlled rate (~4 events/sec), and note explicitly that the generator interval can be turned up for an actual load test later. Combined with using t3.small instead of larger nodes, private subnets, and tearing the whole stack down between work sessions, this reflects a cost-conscious mindset that's worth calling out unprompted in an interview, not just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recap slide — nine concrete problems, each with a one-line root cause and fix, in the order they appear through the deck. If time is short before an interview, this single slide is the fastest way to refresh on every debugging story in the project: WSL2 setup, node sizing, the Helm download timeout, the Vector-to-OpenObserve feedback loop, the metrics 400 errors, the misplaced VRL transform found via vector tap, the histogram SQL error, the GitHub token permission issue, and the branch divergence merge. Each one demonstrates a different skill: environment setup, capacity planning, dependency troubleshooting, systems thinking, data-format debugging, root-cause analysis with the right tool (vector tap), pragmatic trade-offs, and safe Git practices under real version-control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245"/>
        </a:solidFill>
      </p:bgPr>
    </p:bg>
    <p:spTree>
      <p:nvGrpSpPr>
        <p:cNvPr id="1" name=""/>
        <p:cNvGrpSpPr/>
        <p:nvPr/>
      </p:nvGrpSpPr>
      <p:grpSpPr>
        <a:xfrm>
          <a:off x="0" y="0"/>
          <a:ext cx="0" cy="0"/>
          <a:chOff x="0" y="0"/>
          <a:chExt cx="0" cy="0"/>
        </a:xfrm>
      </p:grpSpPr>
      <p:sp>
        <p:nvSpPr>
          <p:cNvPr id="2" name="Shape 0"/>
          <p:cNvSpPr/>
          <p:nvPr/>
        </p:nvSpPr>
        <p:spPr>
          <a:xfrm>
            <a:off x="8138160" y="0"/>
            <a:ext cx="4050792" cy="6858000"/>
          </a:xfrm>
          <a:prstGeom prst="rect">
            <a:avLst/>
          </a:prstGeom>
          <a:solidFill>
            <a:srgbClr val="0D3A52"/>
          </a:solidFill>
          <a:ln/>
        </p:spPr>
      </p:sp>
      <p:sp>
        <p:nvSpPr>
          <p:cNvPr id="3" name="Shape 1"/>
          <p:cNvSpPr/>
          <p:nvPr/>
        </p:nvSpPr>
        <p:spPr>
          <a:xfrm>
            <a:off x="8412480" y="914400"/>
            <a:ext cx="128016" cy="128016"/>
          </a:xfrm>
          <a:prstGeom prst="ellipse">
            <a:avLst/>
          </a:prstGeom>
          <a:solidFill>
            <a:srgbClr val="1C7293"/>
          </a:solidFill>
          <a:ln/>
        </p:spPr>
      </p:sp>
      <p:sp>
        <p:nvSpPr>
          <p:cNvPr id="4" name="Shape 2"/>
          <p:cNvSpPr/>
          <p:nvPr/>
        </p:nvSpPr>
        <p:spPr>
          <a:xfrm>
            <a:off x="9034272" y="1371600"/>
            <a:ext cx="128016" cy="128016"/>
          </a:xfrm>
          <a:prstGeom prst="ellipse">
            <a:avLst/>
          </a:prstGeom>
          <a:solidFill>
            <a:srgbClr val="F2A65A"/>
          </a:solidFill>
          <a:ln/>
        </p:spPr>
      </p:sp>
      <p:sp>
        <p:nvSpPr>
          <p:cNvPr id="5" name="Shape 3"/>
          <p:cNvSpPr/>
          <p:nvPr/>
        </p:nvSpPr>
        <p:spPr>
          <a:xfrm>
            <a:off x="9656064" y="914400"/>
            <a:ext cx="128016" cy="128016"/>
          </a:xfrm>
          <a:prstGeom prst="ellipse">
            <a:avLst/>
          </a:prstGeom>
          <a:solidFill>
            <a:srgbClr val="1C7293"/>
          </a:solidFill>
          <a:ln/>
        </p:spPr>
      </p:sp>
      <p:sp>
        <p:nvSpPr>
          <p:cNvPr id="6" name="Shape 4"/>
          <p:cNvSpPr/>
          <p:nvPr/>
        </p:nvSpPr>
        <p:spPr>
          <a:xfrm>
            <a:off x="10277856" y="1371600"/>
            <a:ext cx="128016" cy="128016"/>
          </a:xfrm>
          <a:prstGeom prst="ellipse">
            <a:avLst/>
          </a:prstGeom>
          <a:solidFill>
            <a:srgbClr val="F2A65A"/>
          </a:solidFill>
          <a:ln/>
        </p:spPr>
      </p:sp>
      <p:sp>
        <p:nvSpPr>
          <p:cNvPr id="7" name="Shape 5"/>
          <p:cNvSpPr/>
          <p:nvPr/>
        </p:nvSpPr>
        <p:spPr>
          <a:xfrm>
            <a:off x="10899648" y="914400"/>
            <a:ext cx="128016" cy="128016"/>
          </a:xfrm>
          <a:prstGeom prst="ellipse">
            <a:avLst/>
          </a:prstGeom>
          <a:solidFill>
            <a:srgbClr val="1C7293"/>
          </a:solidFill>
          <a:ln/>
        </p:spPr>
      </p:sp>
      <p:sp>
        <p:nvSpPr>
          <p:cNvPr id="8" name="Text 6"/>
          <p:cNvSpPr/>
          <p:nvPr/>
        </p:nvSpPr>
        <p:spPr>
          <a:xfrm>
            <a:off x="548640" y="1965960"/>
            <a:ext cx="7315200" cy="320040"/>
          </a:xfrm>
          <a:prstGeom prst="rect">
            <a:avLst/>
          </a:prstGeom>
          <a:noFill/>
          <a:ln/>
        </p:spPr>
        <p:txBody>
          <a:bodyPr wrap="square" rtlCol="0" anchor="ctr"/>
          <a:lstStyle/>
          <a:p>
            <a:pPr indent="0" marL="0">
              <a:buNone/>
            </a:pPr>
            <a:r>
              <a:rPr lang="en-US" sz="1250" b="1" spc="200" kern="0" dirty="0">
                <a:solidFill>
                  <a:srgbClr val="F2A65A"/>
                </a:solidFill>
                <a:latin typeface="Calibri" pitchFamily="34" charset="0"/>
                <a:ea typeface="Calibri" pitchFamily="34" charset="-122"/>
                <a:cs typeface="Calibri" pitchFamily="34" charset="-120"/>
              </a:rPr>
              <a:t>AWS  ·  EKS  ·  TERRAFORM  ·  VECTOR  ·  OPENOBSERVE</a:t>
            </a:r>
            <a:endParaRPr lang="en-US" sz="1250" dirty="0"/>
          </a:p>
        </p:txBody>
      </p:sp>
      <p:sp>
        <p:nvSpPr>
          <p:cNvPr id="9" name="Text 7"/>
          <p:cNvSpPr/>
          <p:nvPr/>
        </p:nvSpPr>
        <p:spPr>
          <a:xfrm>
            <a:off x="548640" y="2331720"/>
            <a:ext cx="740664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Kubernetes</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Observability Pipeline</a:t>
            </a:r>
            <a:endParaRPr lang="en-US" sz="4000" dirty="0"/>
          </a:p>
        </p:txBody>
      </p:sp>
      <p:sp>
        <p:nvSpPr>
          <p:cNvPr id="10" name="Text 8"/>
          <p:cNvSpPr/>
          <p:nvPr/>
        </p:nvSpPr>
        <p:spPr>
          <a:xfrm>
            <a:off x="548640" y="4160520"/>
            <a:ext cx="7040880" cy="960120"/>
          </a:xfrm>
          <a:prstGeom prst="rect">
            <a:avLst/>
          </a:prstGeom>
          <a:noFill/>
          <a:ln/>
        </p:spPr>
        <p:txBody>
          <a:bodyPr wrap="square" rtlCol="0" anchor="ctr"/>
          <a:lstStyle/>
          <a:p>
            <a:pPr indent="0" marL="0">
              <a:lnSpc>
                <a:spcPct val="125000"/>
              </a:lnSpc>
              <a:buNone/>
            </a:pPr>
            <a:r>
              <a:rPr lang="en-US" sz="1400" dirty="0">
                <a:solidFill>
                  <a:srgbClr val="C7D6DE"/>
                </a:solidFill>
                <a:latin typeface="Calibri" pitchFamily="34" charset="0"/>
                <a:ea typeface="Calibri" pitchFamily="34" charset="-122"/>
                <a:cs typeface="Calibri" pitchFamily="34" charset="-120"/>
              </a:rPr>
              <a:t>How the pipeline was designed, built, and debugged end to end — from Terraform-provisioned EKS to Vector ingestion, OpenObserve dashboards, and every real issue solved along the way.</a:t>
            </a:r>
            <a:endParaRPr lang="en-US" sz="1400" dirty="0"/>
          </a:p>
        </p:txBody>
      </p:sp>
      <p:sp>
        <p:nvSpPr>
          <p:cNvPr id="11" name="Shape 9"/>
          <p:cNvSpPr/>
          <p:nvPr/>
        </p:nvSpPr>
        <p:spPr>
          <a:xfrm>
            <a:off x="566928" y="5532120"/>
            <a:ext cx="1280160" cy="0"/>
          </a:xfrm>
          <a:prstGeom prst="line">
            <a:avLst/>
          </a:prstGeom>
          <a:noFill/>
          <a:ln w="38100">
            <a:solidFill>
              <a:srgbClr val="F2A65A"/>
            </a:solidFill>
            <a:prstDash val="solid"/>
          </a:ln>
        </p:spPr>
      </p:sp>
      <p:sp>
        <p:nvSpPr>
          <p:cNvPr id="12" name="Text 10"/>
          <p:cNvSpPr/>
          <p:nvPr/>
        </p:nvSpPr>
        <p:spPr>
          <a:xfrm>
            <a:off x="548640" y="5669280"/>
            <a:ext cx="4572000" cy="32004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Ruchir Bhagwat</a:t>
            </a:r>
            <a:endParaRPr lang="en-US" sz="1600" dirty="0"/>
          </a:p>
        </p:txBody>
      </p:sp>
      <p:sp>
        <p:nvSpPr>
          <p:cNvPr id="13" name="Text 11"/>
          <p:cNvSpPr/>
          <p:nvPr/>
        </p:nvSpPr>
        <p:spPr>
          <a:xfrm>
            <a:off x="548640" y="5989320"/>
            <a:ext cx="4572000" cy="274320"/>
          </a:xfrm>
          <a:prstGeom prst="rect">
            <a:avLst/>
          </a:prstGeom>
          <a:noFill/>
          <a:ln/>
        </p:spPr>
        <p:txBody>
          <a:bodyPr wrap="square" rtlCol="0" anchor="ctr"/>
          <a:lstStyle/>
          <a:p>
            <a:pPr indent="0" marL="0">
              <a:buNone/>
            </a:pPr>
            <a:r>
              <a:rPr lang="en-US" sz="1200" dirty="0">
                <a:solidFill>
                  <a:srgbClr val="9FB4C0"/>
                </a:solidFill>
                <a:latin typeface="Calibri" pitchFamily="34" charset="0"/>
                <a:ea typeface="Calibri" pitchFamily="34" charset="-122"/>
                <a:cs typeface="Calibri" pitchFamily="34" charset="-120"/>
              </a:rPr>
              <a:t>Cloud / Site Reliability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ASSIGNMENT</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Project Overview &amp; Requirements</a:t>
            </a:r>
            <a:endParaRPr lang="en-US" sz="3000" dirty="0"/>
          </a:p>
        </p:txBody>
      </p:sp>
      <p:sp>
        <p:nvSpPr>
          <p:cNvPr id="4" name="Text 2"/>
          <p:cNvSpPr/>
          <p:nvPr/>
        </p:nvSpPr>
        <p:spPr>
          <a:xfrm>
            <a:off x="502920" y="1234440"/>
            <a:ext cx="11155680" cy="640080"/>
          </a:xfrm>
          <a:prstGeom prst="rect">
            <a:avLst/>
          </a:prstGeom>
          <a:noFill/>
          <a:ln/>
        </p:spPr>
        <p:txBody>
          <a:bodyPr wrap="square" rtlCol="0" anchor="ctr"/>
          <a:lstStyle/>
          <a:p>
            <a:pPr indent="0" marL="0">
              <a:lnSpc>
                <a:spcPct val="120000"/>
              </a:lnSpc>
              <a:buNone/>
            </a:pPr>
            <a:r>
              <a:rPr lang="en-US" sz="1400" dirty="0">
                <a:solidFill>
                  <a:srgbClr val="5C7080"/>
                </a:solidFill>
                <a:latin typeface="Calibri" pitchFamily="34" charset="0"/>
                <a:ea typeface="Calibri" pitchFamily="34" charset="-122"/>
                <a:cs typeface="Calibri" pitchFamily="34" charset="-120"/>
              </a:rPr>
              <a:t>Build an observability pipeline on a managed Kubernetes cluster: collect real Kubernetes logs, generate dummy logs/metrics with Vector, ship everything to OpenObserve, and visualize it on dashboards.</a:t>
            </a:r>
            <a:endParaRPr lang="en-US" sz="1400" dirty="0"/>
          </a:p>
        </p:txBody>
      </p:sp>
      <p:sp>
        <p:nvSpPr>
          <p:cNvPr id="5" name="Shape 3"/>
          <p:cNvSpPr/>
          <p:nvPr/>
        </p:nvSpPr>
        <p:spPr>
          <a:xfrm>
            <a:off x="502920" y="2103120"/>
            <a:ext cx="5394960" cy="1234440"/>
          </a:xfrm>
          <a:prstGeom prst="roundRect">
            <a:avLst>
              <a:gd name="adj" fmla="val 5926"/>
            </a:avLst>
          </a:prstGeom>
          <a:solidFill>
            <a:srgbClr val="FFFFFF"/>
          </a:solidFill>
          <a:ln w="12700">
            <a:solidFill>
              <a:srgbClr val="D8E3E9"/>
            </a:solidFill>
            <a:prstDash val="solid"/>
          </a:ln>
        </p:spPr>
      </p:sp>
      <p:sp>
        <p:nvSpPr>
          <p:cNvPr id="6" name="Shape 4"/>
          <p:cNvSpPr/>
          <p:nvPr/>
        </p:nvSpPr>
        <p:spPr>
          <a:xfrm>
            <a:off x="704088" y="2491740"/>
            <a:ext cx="457200" cy="457200"/>
          </a:xfrm>
          <a:prstGeom prst="ellipse">
            <a:avLst/>
          </a:prstGeom>
          <a:solidFill>
            <a:srgbClr val="1C7293"/>
          </a:solidFill>
          <a:ln/>
        </p:spPr>
      </p:sp>
      <p:sp>
        <p:nvSpPr>
          <p:cNvPr id="7" name="Text 5"/>
          <p:cNvSpPr/>
          <p:nvPr/>
        </p:nvSpPr>
        <p:spPr>
          <a:xfrm>
            <a:off x="704088" y="24917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71600" y="224028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Managed Kubernetes cluster provisioned with Terraform</a:t>
            </a:r>
            <a:endParaRPr lang="en-US" sz="1300" dirty="0"/>
          </a:p>
        </p:txBody>
      </p:sp>
      <p:sp>
        <p:nvSpPr>
          <p:cNvPr id="9" name="Shape 7"/>
          <p:cNvSpPr/>
          <p:nvPr/>
        </p:nvSpPr>
        <p:spPr>
          <a:xfrm>
            <a:off x="6263640" y="2103120"/>
            <a:ext cx="5394960" cy="1234440"/>
          </a:xfrm>
          <a:prstGeom prst="roundRect">
            <a:avLst>
              <a:gd name="adj" fmla="val 5926"/>
            </a:avLst>
          </a:prstGeom>
          <a:solidFill>
            <a:srgbClr val="FFFFFF"/>
          </a:solidFill>
          <a:ln w="12700">
            <a:solidFill>
              <a:srgbClr val="D8E3E9"/>
            </a:solidFill>
            <a:prstDash val="solid"/>
          </a:ln>
        </p:spPr>
      </p:sp>
      <p:sp>
        <p:nvSpPr>
          <p:cNvPr id="10" name="Shape 8"/>
          <p:cNvSpPr/>
          <p:nvPr/>
        </p:nvSpPr>
        <p:spPr>
          <a:xfrm>
            <a:off x="6464808" y="2491740"/>
            <a:ext cx="457200" cy="457200"/>
          </a:xfrm>
          <a:prstGeom prst="ellipse">
            <a:avLst/>
          </a:prstGeom>
          <a:solidFill>
            <a:srgbClr val="1C7293"/>
          </a:solidFill>
          <a:ln/>
        </p:spPr>
      </p:sp>
      <p:sp>
        <p:nvSpPr>
          <p:cNvPr id="11" name="Text 9"/>
          <p:cNvSpPr/>
          <p:nvPr/>
        </p:nvSpPr>
        <p:spPr>
          <a:xfrm>
            <a:off x="6464808" y="24917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132320" y="224028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Vector deployed inside the cluster as a DaemonSet</a:t>
            </a:r>
            <a:endParaRPr lang="en-US" sz="1300" dirty="0"/>
          </a:p>
        </p:txBody>
      </p:sp>
      <p:sp>
        <p:nvSpPr>
          <p:cNvPr id="13" name="Shape 11"/>
          <p:cNvSpPr/>
          <p:nvPr/>
        </p:nvSpPr>
        <p:spPr>
          <a:xfrm>
            <a:off x="502920" y="3611880"/>
            <a:ext cx="5394960" cy="1234440"/>
          </a:xfrm>
          <a:prstGeom prst="roundRect">
            <a:avLst>
              <a:gd name="adj" fmla="val 5926"/>
            </a:avLst>
          </a:prstGeom>
          <a:solidFill>
            <a:srgbClr val="FFFFFF"/>
          </a:solidFill>
          <a:ln w="12700">
            <a:solidFill>
              <a:srgbClr val="D8E3E9"/>
            </a:solidFill>
            <a:prstDash val="solid"/>
          </a:ln>
        </p:spPr>
      </p:sp>
      <p:sp>
        <p:nvSpPr>
          <p:cNvPr id="14" name="Shape 12"/>
          <p:cNvSpPr/>
          <p:nvPr/>
        </p:nvSpPr>
        <p:spPr>
          <a:xfrm>
            <a:off x="704088" y="4000500"/>
            <a:ext cx="457200" cy="457200"/>
          </a:xfrm>
          <a:prstGeom prst="ellipse">
            <a:avLst/>
          </a:prstGeom>
          <a:solidFill>
            <a:srgbClr val="1C7293"/>
          </a:solidFill>
          <a:ln/>
        </p:spPr>
      </p:sp>
      <p:sp>
        <p:nvSpPr>
          <p:cNvPr id="15" name="Text 13"/>
          <p:cNvSpPr/>
          <p:nvPr/>
        </p:nvSpPr>
        <p:spPr>
          <a:xfrm>
            <a:off x="704088" y="40005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p:nvPr/>
        </p:nvSpPr>
        <p:spPr>
          <a:xfrm>
            <a:off x="1371600" y="374904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High-volume dummy logs &amp; metrics generation</a:t>
            </a:r>
            <a:endParaRPr lang="en-US" sz="1300" dirty="0"/>
          </a:p>
        </p:txBody>
      </p:sp>
      <p:sp>
        <p:nvSpPr>
          <p:cNvPr id="17" name="Shape 15"/>
          <p:cNvSpPr/>
          <p:nvPr/>
        </p:nvSpPr>
        <p:spPr>
          <a:xfrm>
            <a:off x="6263640" y="3611880"/>
            <a:ext cx="5394960" cy="1234440"/>
          </a:xfrm>
          <a:prstGeom prst="roundRect">
            <a:avLst>
              <a:gd name="adj" fmla="val 5926"/>
            </a:avLst>
          </a:prstGeom>
          <a:solidFill>
            <a:srgbClr val="FFFFFF"/>
          </a:solidFill>
          <a:ln w="12700">
            <a:solidFill>
              <a:srgbClr val="D8E3E9"/>
            </a:solidFill>
            <a:prstDash val="solid"/>
          </a:ln>
        </p:spPr>
      </p:sp>
      <p:sp>
        <p:nvSpPr>
          <p:cNvPr id="18" name="Shape 16"/>
          <p:cNvSpPr/>
          <p:nvPr/>
        </p:nvSpPr>
        <p:spPr>
          <a:xfrm>
            <a:off x="6464808" y="4000500"/>
            <a:ext cx="457200" cy="457200"/>
          </a:xfrm>
          <a:prstGeom prst="ellipse">
            <a:avLst/>
          </a:prstGeom>
          <a:solidFill>
            <a:srgbClr val="1C7293"/>
          </a:solidFill>
          <a:ln/>
        </p:spPr>
      </p:sp>
      <p:sp>
        <p:nvSpPr>
          <p:cNvPr id="19" name="Text 17"/>
          <p:cNvSpPr/>
          <p:nvPr/>
        </p:nvSpPr>
        <p:spPr>
          <a:xfrm>
            <a:off x="6464808" y="40005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0" name="Text 18"/>
          <p:cNvSpPr/>
          <p:nvPr/>
        </p:nvSpPr>
        <p:spPr>
          <a:xfrm>
            <a:off x="7132320" y="374904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Ingestion of logs and metrics into OpenObserve</a:t>
            </a:r>
            <a:endParaRPr lang="en-US" sz="1300" dirty="0"/>
          </a:p>
        </p:txBody>
      </p:sp>
      <p:sp>
        <p:nvSpPr>
          <p:cNvPr id="21" name="Shape 19"/>
          <p:cNvSpPr/>
          <p:nvPr/>
        </p:nvSpPr>
        <p:spPr>
          <a:xfrm>
            <a:off x="502920" y="5120640"/>
            <a:ext cx="5394960" cy="1234440"/>
          </a:xfrm>
          <a:prstGeom prst="roundRect">
            <a:avLst>
              <a:gd name="adj" fmla="val 5926"/>
            </a:avLst>
          </a:prstGeom>
          <a:solidFill>
            <a:srgbClr val="FFFFFF"/>
          </a:solidFill>
          <a:ln w="12700">
            <a:solidFill>
              <a:srgbClr val="D8E3E9"/>
            </a:solidFill>
            <a:prstDash val="solid"/>
          </a:ln>
        </p:spPr>
      </p:sp>
      <p:sp>
        <p:nvSpPr>
          <p:cNvPr id="22" name="Shape 20"/>
          <p:cNvSpPr/>
          <p:nvPr/>
        </p:nvSpPr>
        <p:spPr>
          <a:xfrm>
            <a:off x="704088" y="5509260"/>
            <a:ext cx="457200" cy="457200"/>
          </a:xfrm>
          <a:prstGeom prst="ellipse">
            <a:avLst/>
          </a:prstGeom>
          <a:solidFill>
            <a:srgbClr val="1C7293"/>
          </a:solidFill>
          <a:ln/>
        </p:spPr>
      </p:sp>
      <p:sp>
        <p:nvSpPr>
          <p:cNvPr id="23" name="Text 21"/>
          <p:cNvSpPr/>
          <p:nvPr/>
        </p:nvSpPr>
        <p:spPr>
          <a:xfrm>
            <a:off x="704088" y="550926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4" name="Text 22"/>
          <p:cNvSpPr/>
          <p:nvPr/>
        </p:nvSpPr>
        <p:spPr>
          <a:xfrm>
            <a:off x="1371600" y="525780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Log &amp; metrics dashboards, exported as JSON</a:t>
            </a:r>
            <a:endParaRPr lang="en-US" sz="1300" dirty="0"/>
          </a:p>
        </p:txBody>
      </p:sp>
      <p:sp>
        <p:nvSpPr>
          <p:cNvPr id="25" name="Shape 23"/>
          <p:cNvSpPr/>
          <p:nvPr/>
        </p:nvSpPr>
        <p:spPr>
          <a:xfrm>
            <a:off x="6263640" y="5120640"/>
            <a:ext cx="5394960" cy="1234440"/>
          </a:xfrm>
          <a:prstGeom prst="roundRect">
            <a:avLst>
              <a:gd name="adj" fmla="val 5926"/>
            </a:avLst>
          </a:prstGeom>
          <a:solidFill>
            <a:srgbClr val="FFFFFF"/>
          </a:solidFill>
          <a:ln w="12700">
            <a:solidFill>
              <a:srgbClr val="D8E3E9"/>
            </a:solidFill>
            <a:prstDash val="solid"/>
          </a:ln>
        </p:spPr>
      </p:sp>
      <p:sp>
        <p:nvSpPr>
          <p:cNvPr id="26" name="Shape 24"/>
          <p:cNvSpPr/>
          <p:nvPr/>
        </p:nvSpPr>
        <p:spPr>
          <a:xfrm>
            <a:off x="6464808" y="5509260"/>
            <a:ext cx="457200" cy="457200"/>
          </a:xfrm>
          <a:prstGeom prst="ellipse">
            <a:avLst/>
          </a:prstGeom>
          <a:solidFill>
            <a:srgbClr val="1C7293"/>
          </a:solidFill>
          <a:ln/>
        </p:spPr>
      </p:sp>
      <p:sp>
        <p:nvSpPr>
          <p:cNvPr id="27" name="Text 25"/>
          <p:cNvSpPr/>
          <p:nvPr/>
        </p:nvSpPr>
        <p:spPr>
          <a:xfrm>
            <a:off x="6464808" y="550926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8" name="Text 26"/>
          <p:cNvSpPr/>
          <p:nvPr/>
        </p:nvSpPr>
        <p:spPr>
          <a:xfrm>
            <a:off x="7132320" y="5257800"/>
            <a:ext cx="4343400" cy="960120"/>
          </a:xfrm>
          <a:prstGeom prst="rect">
            <a:avLst/>
          </a:prstGeom>
          <a:noFill/>
          <a:ln/>
        </p:spPr>
        <p:txBody>
          <a:bodyPr wrap="square" rtlCol="0" anchor="ctr"/>
          <a:lstStyle/>
          <a:p>
            <a:pPr indent="0" marL="0">
              <a:lnSpc>
                <a:spcPct val="115000"/>
              </a:lnSpc>
              <a:buNone/>
            </a:pPr>
            <a:r>
              <a:rPr lang="en-US" sz="1300" dirty="0">
                <a:solidFill>
                  <a:srgbClr val="16232E"/>
                </a:solidFill>
                <a:latin typeface="Calibri" pitchFamily="34" charset="0"/>
                <a:ea typeface="Calibri" pitchFamily="34" charset="-122"/>
                <a:cs typeface="Calibri" pitchFamily="34" charset="-120"/>
              </a:rPr>
              <a:t>Terraform + K8s manifests + README pushed to GitHub</a:t>
            </a:r>
            <a:endParaRPr lang="en-US" sz="1300" dirty="0"/>
          </a:p>
        </p:txBody>
      </p:sp>
      <p:sp>
        <p:nvSpPr>
          <p:cNvPr id="29" name="Text 27"/>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30" name="Text 28"/>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HOW IT FITS TOGETHER</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End-to-End Architecture</a:t>
            </a:r>
            <a:endParaRPr lang="en-US" sz="3000" dirty="0"/>
          </a:p>
        </p:txBody>
      </p:sp>
      <p:sp>
        <p:nvSpPr>
          <p:cNvPr id="4" name="Shape 2"/>
          <p:cNvSpPr/>
          <p:nvPr/>
        </p:nvSpPr>
        <p:spPr>
          <a:xfrm>
            <a:off x="502920" y="1417320"/>
            <a:ext cx="2331720" cy="914400"/>
          </a:xfrm>
          <a:prstGeom prst="roundRect">
            <a:avLst>
              <a:gd name="adj" fmla="val 9000"/>
            </a:avLst>
          </a:prstGeom>
          <a:solidFill>
            <a:srgbClr val="0B3245"/>
          </a:solidFill>
          <a:ln/>
        </p:spPr>
      </p:sp>
      <p:sp>
        <p:nvSpPr>
          <p:cNvPr id="5" name="Text 3"/>
          <p:cNvSpPr/>
          <p:nvPr/>
        </p:nvSpPr>
        <p:spPr>
          <a:xfrm>
            <a:off x="502920" y="1417320"/>
            <a:ext cx="2331720" cy="91440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AWS VPC</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(Public + Private Subnets)</a:t>
            </a:r>
            <a:endParaRPr lang="en-US" sz="1250" dirty="0"/>
          </a:p>
        </p:txBody>
      </p:sp>
      <p:sp>
        <p:nvSpPr>
          <p:cNvPr id="6" name="Shape 4"/>
          <p:cNvSpPr/>
          <p:nvPr/>
        </p:nvSpPr>
        <p:spPr>
          <a:xfrm>
            <a:off x="2852928" y="1792224"/>
            <a:ext cx="374904" cy="164592"/>
          </a:xfrm>
          <a:prstGeom prst="rightArrow">
            <a:avLst/>
          </a:prstGeom>
          <a:solidFill>
            <a:srgbClr val="5C7080"/>
          </a:solidFill>
          <a:ln/>
        </p:spPr>
      </p:sp>
      <p:sp>
        <p:nvSpPr>
          <p:cNvPr id="7" name="Shape 5"/>
          <p:cNvSpPr/>
          <p:nvPr/>
        </p:nvSpPr>
        <p:spPr>
          <a:xfrm>
            <a:off x="3246120" y="1417320"/>
            <a:ext cx="2331720" cy="914400"/>
          </a:xfrm>
          <a:prstGeom prst="roundRect">
            <a:avLst>
              <a:gd name="adj" fmla="val 9000"/>
            </a:avLst>
          </a:prstGeom>
          <a:solidFill>
            <a:srgbClr val="1C7293"/>
          </a:solidFill>
          <a:ln/>
        </p:spPr>
      </p:sp>
      <p:sp>
        <p:nvSpPr>
          <p:cNvPr id="8" name="Text 6"/>
          <p:cNvSpPr/>
          <p:nvPr/>
        </p:nvSpPr>
        <p:spPr>
          <a:xfrm>
            <a:off x="3246120" y="1417320"/>
            <a:ext cx="2331720" cy="91440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Amazon EKS</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4 × t3.small Nodes</a:t>
            </a:r>
            <a:endParaRPr lang="en-US" sz="1250" dirty="0"/>
          </a:p>
        </p:txBody>
      </p:sp>
      <p:sp>
        <p:nvSpPr>
          <p:cNvPr id="9" name="Shape 7"/>
          <p:cNvSpPr/>
          <p:nvPr/>
        </p:nvSpPr>
        <p:spPr>
          <a:xfrm>
            <a:off x="5596128" y="1792224"/>
            <a:ext cx="374904" cy="164592"/>
          </a:xfrm>
          <a:prstGeom prst="rightArrow">
            <a:avLst/>
          </a:prstGeom>
          <a:solidFill>
            <a:srgbClr val="5C7080"/>
          </a:solidFill>
          <a:ln/>
        </p:spPr>
      </p:sp>
      <p:sp>
        <p:nvSpPr>
          <p:cNvPr id="10" name="Shape 8"/>
          <p:cNvSpPr/>
          <p:nvPr/>
        </p:nvSpPr>
        <p:spPr>
          <a:xfrm>
            <a:off x="5989320" y="1417320"/>
            <a:ext cx="2514600" cy="914400"/>
          </a:xfrm>
          <a:prstGeom prst="roundRect">
            <a:avLst>
              <a:gd name="adj" fmla="val 9000"/>
            </a:avLst>
          </a:prstGeom>
          <a:solidFill>
            <a:srgbClr val="1C7293"/>
          </a:solidFill>
          <a:ln/>
        </p:spPr>
      </p:sp>
      <p:sp>
        <p:nvSpPr>
          <p:cNvPr id="11" name="Text 9"/>
          <p:cNvSpPr/>
          <p:nvPr/>
        </p:nvSpPr>
        <p:spPr>
          <a:xfrm>
            <a:off x="5989320" y="1417320"/>
            <a:ext cx="2514600" cy="91440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Vector DaemonSet</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(4 pods — 1 per node)</a:t>
            </a:r>
            <a:endParaRPr lang="en-US" sz="1250" dirty="0"/>
          </a:p>
        </p:txBody>
      </p:sp>
      <p:sp>
        <p:nvSpPr>
          <p:cNvPr id="12" name="Shape 10"/>
          <p:cNvSpPr/>
          <p:nvPr/>
        </p:nvSpPr>
        <p:spPr>
          <a:xfrm>
            <a:off x="8522208" y="1792224"/>
            <a:ext cx="374904" cy="164592"/>
          </a:xfrm>
          <a:prstGeom prst="rightArrow">
            <a:avLst/>
          </a:prstGeom>
          <a:solidFill>
            <a:srgbClr val="5C7080"/>
          </a:solidFill>
          <a:ln/>
        </p:spPr>
      </p:sp>
      <p:sp>
        <p:nvSpPr>
          <p:cNvPr id="13" name="Shape 11"/>
          <p:cNvSpPr/>
          <p:nvPr/>
        </p:nvSpPr>
        <p:spPr>
          <a:xfrm>
            <a:off x="8915400" y="1417320"/>
            <a:ext cx="2651760" cy="914400"/>
          </a:xfrm>
          <a:prstGeom prst="roundRect">
            <a:avLst>
              <a:gd name="adj" fmla="val 9000"/>
            </a:avLst>
          </a:prstGeom>
          <a:solidFill>
            <a:srgbClr val="0B3245"/>
          </a:solidFill>
          <a:ln/>
        </p:spPr>
      </p:sp>
      <p:sp>
        <p:nvSpPr>
          <p:cNvPr id="14" name="Text 12"/>
          <p:cNvSpPr/>
          <p:nvPr/>
        </p:nvSpPr>
        <p:spPr>
          <a:xfrm>
            <a:off x="8915400" y="1417320"/>
            <a:ext cx="2651760" cy="914400"/>
          </a:xfrm>
          <a:prstGeom prst="rect">
            <a:avLst/>
          </a:prstGeom>
          <a:noFill/>
          <a:ln/>
        </p:spPr>
        <p:txBody>
          <a:bodyPr wrap="square"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OpenObserve</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(Logs + Metrics store)</a:t>
            </a:r>
            <a:endParaRPr lang="en-US" sz="1250" dirty="0"/>
          </a:p>
        </p:txBody>
      </p:sp>
      <p:sp>
        <p:nvSpPr>
          <p:cNvPr id="15" name="Text 13"/>
          <p:cNvSpPr/>
          <p:nvPr/>
        </p:nvSpPr>
        <p:spPr>
          <a:xfrm>
            <a:off x="502920" y="2697480"/>
            <a:ext cx="3657600" cy="27432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Inputs feeding Vector</a:t>
            </a:r>
            <a:endParaRPr lang="en-US" sz="1400" dirty="0"/>
          </a:p>
        </p:txBody>
      </p:sp>
      <p:sp>
        <p:nvSpPr>
          <p:cNvPr id="16" name="Text 14"/>
          <p:cNvSpPr/>
          <p:nvPr/>
        </p:nvSpPr>
        <p:spPr>
          <a:xfrm>
            <a:off x="502920" y="3017520"/>
            <a:ext cx="5394960" cy="1645920"/>
          </a:xfrm>
          <a:prstGeom prst="rect">
            <a:avLst/>
          </a:prstGeom>
          <a:noFill/>
          <a:ln/>
        </p:spPr>
        <p:txBody>
          <a:bodyPr wrap="square" rtlCol="0" anchor="t"/>
          <a:lstStyle/>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kubernetes_logs — real pod/container logs, enriched with service, namespace, node</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demo_logs — synthetic JSON logs at 1 event/sec per pod (~4 events/sec total)</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static_metrics — CPU, memory, request rate, ingestion counter</a:t>
            </a:r>
            <a:endParaRPr lang="en-US" sz="1250" dirty="0"/>
          </a:p>
        </p:txBody>
      </p:sp>
      <p:sp>
        <p:nvSpPr>
          <p:cNvPr id="17" name="Text 15"/>
          <p:cNvSpPr/>
          <p:nvPr/>
        </p:nvSpPr>
        <p:spPr>
          <a:xfrm>
            <a:off x="6263640" y="2697480"/>
            <a:ext cx="3657600" cy="27432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From Vector to dashboards</a:t>
            </a:r>
            <a:endParaRPr lang="en-US" sz="1400" dirty="0"/>
          </a:p>
        </p:txBody>
      </p:sp>
      <p:sp>
        <p:nvSpPr>
          <p:cNvPr id="18" name="Text 16"/>
          <p:cNvSpPr/>
          <p:nvPr/>
        </p:nvSpPr>
        <p:spPr>
          <a:xfrm>
            <a:off x="6263640" y="3017520"/>
            <a:ext cx="5394960" cy="1645920"/>
          </a:xfrm>
          <a:prstGeom prst="rect">
            <a:avLst/>
          </a:prstGeom>
          <a:noFill/>
          <a:ln/>
        </p:spPr>
        <p:txBody>
          <a:bodyPr wrap="square" rtlCol="0" anchor="t"/>
          <a:lstStyle/>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Logs → classified by HTTP status (info / warn / error) → OpenObserve logs stream</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Metrics → normalized via metric_to_log → OpenObserve metrics stream</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Two OpenObserve dashboards visualize both streams in near real time</a:t>
            </a:r>
            <a:endParaRPr lang="en-US" sz="1250" dirty="0"/>
          </a:p>
        </p:txBody>
      </p:sp>
      <p:sp>
        <p:nvSpPr>
          <p:cNvPr id="19" name="Shape 17"/>
          <p:cNvSpPr/>
          <p:nvPr/>
        </p:nvSpPr>
        <p:spPr>
          <a:xfrm>
            <a:off x="502920" y="5074920"/>
            <a:ext cx="11155680" cy="1051560"/>
          </a:xfrm>
          <a:prstGeom prst="roundRect">
            <a:avLst>
              <a:gd name="adj" fmla="val 6957"/>
            </a:avLst>
          </a:prstGeom>
          <a:solidFill>
            <a:srgbClr val="0B3245"/>
          </a:solidFill>
          <a:ln/>
        </p:spPr>
      </p:sp>
      <p:sp>
        <p:nvSpPr>
          <p:cNvPr id="20" name="Text 18"/>
          <p:cNvSpPr/>
          <p:nvPr/>
        </p:nvSpPr>
        <p:spPr>
          <a:xfrm>
            <a:off x="777240" y="5074920"/>
            <a:ext cx="10607040" cy="1051560"/>
          </a:xfrm>
          <a:prstGeom prst="rect">
            <a:avLst/>
          </a:prstGeom>
          <a:noFill/>
          <a:ln/>
        </p:spPr>
        <p:txBody>
          <a:bodyPr wrap="square" rtlCol="0" anchor="ctr"/>
          <a:lstStyle/>
          <a:p>
            <a:pPr indent="0" marL="0">
              <a:lnSpc>
                <a:spcPct val="130000"/>
              </a:lnSpc>
              <a:buNone/>
            </a:pPr>
            <a:r>
              <a:rPr lang="en-US" sz="1250" dirty="0">
                <a:solidFill>
                  <a:srgbClr val="CFE0E8"/>
                </a:solidFill>
                <a:latin typeface="Calibri" pitchFamily="34" charset="0"/>
                <a:ea typeface="Calibri" pitchFamily="34" charset="-122"/>
                <a:cs typeface="Calibri" pitchFamily="34" charset="-120"/>
              </a:rPr>
              <a:t>Region: ap-south-1 (Mumbai)   ·   Kubernetes v1.33.13   ·   Vector image: timberio/vector:0.50.0-alpine   ·   Repo: Ruchir20/k8s-observability-pipeline</a:t>
            </a:r>
            <a:endParaRPr lang="en-US" sz="1250" dirty="0"/>
          </a:p>
        </p:txBody>
      </p:sp>
      <p:sp>
        <p:nvSpPr>
          <p:cNvPr id="21" name="Text 1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2" name="Text 20"/>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TOOLING CHOICES</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Technology Stack</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406640" cy="5029200"/>
        </p:xfrm>
        <a:graphic>
          <a:graphicData uri="http://schemas.openxmlformats.org/drawingml/2006/table">
            <a:tbl>
              <a:tblPr/>
              <a:tblGrid>
                <a:gridCol w="3108960"/>
                <a:gridCol w="429768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0B3245"/>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0B3245"/>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Cloud</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AWS (ap-south-1 — Mumbai)</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Kubernetes</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Amazon EKS — managed control plane</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Infrastructure as Code</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Terraform</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Log / Metric Agent</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Vector (DaemonSet)</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Observability Platform</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OpenObserve</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Package Manager</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Helm</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Kubernetes CLI</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kubectl</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Source Control</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Git / GitHub</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r h="502920">
                <a:tc>
                  <a:txBody>
                    <a:bodyPr/>
                    <a:lstStyle/>
                    <a:p>
                      <a:pPr indent="0" marL="0">
                        <a:buNone/>
                      </a:pPr>
                      <a:r>
                        <a:rPr lang="en-US" sz="1250" b="1" dirty="0">
                          <a:solidFill>
                            <a:srgbClr val="16232E"/>
                          </a:solidFill>
                          <a:latin typeface="Calibri" pitchFamily="34" charset="0"/>
                          <a:ea typeface="Calibri" pitchFamily="34" charset="-122"/>
                          <a:cs typeface="Calibri" pitchFamily="34" charset="-120"/>
                        </a:rPr>
                        <a:t>Local OS Environment</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250" dirty="0">
                          <a:solidFill>
                            <a:srgbClr val="5C7080"/>
                          </a:solidFill>
                          <a:latin typeface="Calibri" pitchFamily="34" charset="0"/>
                          <a:ea typeface="Calibri" pitchFamily="34" charset="-122"/>
                          <a:cs typeface="Calibri" pitchFamily="34" charset="-120"/>
                        </a:rPr>
                        <a:t>Windows + WSL2 (Ubuntu)</a:t>
                      </a:r>
                      <a:endParaRPr lang="en-US" sz="12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bl>
          </a:graphicData>
        </a:graphic>
      </p:graphicFrame>
      <p:sp>
        <p:nvSpPr>
          <p:cNvPr id="5" name="Shape 2"/>
          <p:cNvSpPr/>
          <p:nvPr/>
        </p:nvSpPr>
        <p:spPr>
          <a:xfrm>
            <a:off x="8183880" y="1280160"/>
            <a:ext cx="3502152" cy="5029200"/>
          </a:xfrm>
          <a:prstGeom prst="roundRect">
            <a:avLst>
              <a:gd name="adj" fmla="val 2089"/>
            </a:avLst>
          </a:prstGeom>
          <a:solidFill>
            <a:srgbClr val="0B3245"/>
          </a:solidFill>
          <a:ln/>
        </p:spPr>
      </p:sp>
      <p:sp>
        <p:nvSpPr>
          <p:cNvPr id="6" name="Text 3"/>
          <p:cNvSpPr/>
          <p:nvPr/>
        </p:nvSpPr>
        <p:spPr>
          <a:xfrm>
            <a:off x="8458200" y="1508760"/>
            <a:ext cx="297180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Why these choices</a:t>
            </a:r>
            <a:endParaRPr lang="en-US" sz="1500" dirty="0"/>
          </a:p>
        </p:txBody>
      </p:sp>
      <p:sp>
        <p:nvSpPr>
          <p:cNvPr id="7" name="Text 4"/>
          <p:cNvSpPr/>
          <p:nvPr/>
        </p:nvSpPr>
        <p:spPr>
          <a:xfrm>
            <a:off x="8458200" y="1920240"/>
            <a:ext cx="2971800" cy="4206240"/>
          </a:xfrm>
          <a:prstGeom prst="rect">
            <a:avLst/>
          </a:prstGeom>
          <a:noFill/>
          <a:ln/>
        </p:spPr>
        <p:txBody>
          <a:bodyPr wrap="square" rtlCol="0" anchor="t"/>
          <a:lstStyle/>
          <a:p>
            <a:pPr marL="177800" indent="-177800">
              <a:lnSpc>
                <a:spcPct val="110000"/>
              </a:lnSpc>
              <a:spcAft>
                <a:spcPts val="1200"/>
              </a:spcAft>
              <a:buSzPct val="100000"/>
              <a:buChar char="▪"/>
            </a:pPr>
            <a:r>
              <a:rPr lang="en-US" sz="1200" dirty="0">
                <a:solidFill>
                  <a:srgbClr val="E4EEF2"/>
                </a:solidFill>
                <a:latin typeface="Calibri" pitchFamily="34" charset="0"/>
                <a:ea typeface="Calibri" pitchFamily="34" charset="-122"/>
                <a:cs typeface="Calibri" pitchFamily="34" charset="-120"/>
              </a:rPr>
              <a:t>Terraform: reproducible, version-controlled infra instead of manual console clicks</a:t>
            </a:r>
            <a:endParaRPr lang="en-US" sz="1200" dirty="0"/>
          </a:p>
          <a:p>
            <a:pPr marL="177800" indent="-177800">
              <a:lnSpc>
                <a:spcPct val="110000"/>
              </a:lnSpc>
              <a:spcAft>
                <a:spcPts val="1200"/>
              </a:spcAft>
              <a:buSzPct val="100000"/>
              <a:buChar char="▪"/>
            </a:pPr>
            <a:r>
              <a:rPr lang="en-US" sz="1200" dirty="0">
                <a:solidFill>
                  <a:srgbClr val="E4EEF2"/>
                </a:solidFill>
                <a:latin typeface="Calibri" pitchFamily="34" charset="0"/>
                <a:ea typeface="Calibri" pitchFamily="34" charset="-122"/>
                <a:cs typeface="Calibri" pitchFamily="34" charset="-120"/>
              </a:rPr>
              <a:t>EKS: managed control plane — no need to run/upgrade Kubernetes masters</a:t>
            </a:r>
            <a:endParaRPr lang="en-US" sz="1200" dirty="0"/>
          </a:p>
          <a:p>
            <a:pPr marL="177800" indent="-177800">
              <a:lnSpc>
                <a:spcPct val="110000"/>
              </a:lnSpc>
              <a:spcAft>
                <a:spcPts val="1200"/>
              </a:spcAft>
              <a:buSzPct val="100000"/>
              <a:buChar char="▪"/>
            </a:pPr>
            <a:r>
              <a:rPr lang="en-US" sz="1200" dirty="0">
                <a:solidFill>
                  <a:srgbClr val="E4EEF2"/>
                </a:solidFill>
                <a:latin typeface="Calibri" pitchFamily="34" charset="0"/>
                <a:ea typeface="Calibri" pitchFamily="34" charset="-122"/>
                <a:cs typeface="Calibri" pitchFamily="34" charset="-120"/>
              </a:rPr>
              <a:t>Vector: lightweight agent that can collect, transform, and route in one binary</a:t>
            </a:r>
            <a:endParaRPr lang="en-US" sz="1200" dirty="0"/>
          </a:p>
          <a:p>
            <a:pPr marL="177800" indent="-177800">
              <a:lnSpc>
                <a:spcPct val="110000"/>
              </a:lnSpc>
              <a:spcAft>
                <a:spcPts val="1200"/>
              </a:spcAft>
              <a:buSzPct val="100000"/>
              <a:buChar char="▪"/>
            </a:pPr>
            <a:r>
              <a:rPr lang="en-US" sz="1200" dirty="0">
                <a:solidFill>
                  <a:srgbClr val="E4EEF2"/>
                </a:solidFill>
                <a:latin typeface="Calibri" pitchFamily="34" charset="0"/>
                <a:ea typeface="Calibri" pitchFamily="34" charset="-122"/>
                <a:cs typeface="Calibri" pitchFamily="34" charset="-120"/>
              </a:rPr>
              <a:t>OpenObserve: self-hosted, low-cost log + metric storage and dashboards</a:t>
            </a:r>
            <a:endParaRPr lang="en-US" sz="1200" dirty="0"/>
          </a:p>
        </p:txBody>
      </p:sp>
      <p:sp>
        <p:nvSpPr>
          <p:cNvPr id="8" name="Text 5"/>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9" name="Text 6"/>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INFRASTRUCTURE AS CODE</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Terraform Infrastructure</a:t>
            </a:r>
            <a:endParaRPr lang="en-US" sz="3000" dirty="0"/>
          </a:p>
        </p:txBody>
      </p:sp>
      <p:sp>
        <p:nvSpPr>
          <p:cNvPr id="4" name="Shape 2"/>
          <p:cNvSpPr/>
          <p:nvPr/>
        </p:nvSpPr>
        <p:spPr>
          <a:xfrm>
            <a:off x="502920" y="1325880"/>
            <a:ext cx="3063240" cy="4983480"/>
          </a:xfrm>
          <a:prstGeom prst="roundRect">
            <a:avLst>
              <a:gd name="adj" fmla="val 2687"/>
            </a:avLst>
          </a:prstGeom>
          <a:solidFill>
            <a:srgbClr val="1C7293"/>
          </a:solidFill>
          <a:ln/>
        </p:spPr>
      </p:sp>
      <p:sp>
        <p:nvSpPr>
          <p:cNvPr id="5" name="Text 3"/>
          <p:cNvSpPr/>
          <p:nvPr/>
        </p:nvSpPr>
        <p:spPr>
          <a:xfrm>
            <a:off x="502920" y="1828800"/>
            <a:ext cx="3063240" cy="1188720"/>
          </a:xfrm>
          <a:prstGeom prst="rect">
            <a:avLst/>
          </a:prstGeom>
          <a:noFill/>
          <a:ln/>
        </p:spPr>
        <p:txBody>
          <a:bodyPr wrap="square"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64</a:t>
            </a:r>
            <a:endParaRPr lang="en-US" sz="6600" dirty="0"/>
          </a:p>
        </p:txBody>
      </p:sp>
      <p:sp>
        <p:nvSpPr>
          <p:cNvPr id="6" name="Text 4"/>
          <p:cNvSpPr/>
          <p:nvPr/>
        </p:nvSpPr>
        <p:spPr>
          <a:xfrm>
            <a:off x="685800" y="2971800"/>
            <a:ext cx="2697480" cy="731520"/>
          </a:xfrm>
          <a:prstGeom prst="rect">
            <a:avLst/>
          </a:prstGeom>
          <a:noFill/>
          <a:ln/>
        </p:spPr>
        <p:txBody>
          <a:bodyPr wrap="square" rtlCol="0" anchor="ctr"/>
          <a:lstStyle/>
          <a:p>
            <a:pPr algn="ctr" indent="0" marL="0">
              <a:lnSpc>
                <a:spcPct val="120000"/>
              </a:lnSpc>
              <a:buNone/>
            </a:pPr>
            <a:r>
              <a:rPr lang="en-US" sz="1300" dirty="0">
                <a:solidFill>
                  <a:srgbClr val="E4F4F1"/>
                </a:solidFill>
                <a:latin typeface="Calibri" pitchFamily="34" charset="0"/>
                <a:ea typeface="Calibri" pitchFamily="34" charset="-122"/>
                <a:cs typeface="Calibri" pitchFamily="34" charset="-120"/>
              </a:rPr>
              <a:t>AWS resources</a:t>
            </a:r>
            <a:endParaRPr lang="en-US" sz="1300" dirty="0"/>
          </a:p>
          <a:p>
            <a:pPr algn="ctr" indent="0" marL="0">
              <a:lnSpc>
                <a:spcPct val="120000"/>
              </a:lnSpc>
              <a:buNone/>
            </a:pPr>
            <a:r>
              <a:rPr lang="en-US" sz="1300" dirty="0">
                <a:solidFill>
                  <a:srgbClr val="E4F4F1"/>
                </a:solidFill>
                <a:latin typeface="Calibri" pitchFamily="34" charset="0"/>
                <a:ea typeface="Calibri" pitchFamily="34" charset="-122"/>
                <a:cs typeface="Calibri" pitchFamily="34" charset="-120"/>
              </a:rPr>
              <a:t>provisioned by Terraform</a:t>
            </a:r>
            <a:endParaRPr lang="en-US" sz="1300" dirty="0"/>
          </a:p>
        </p:txBody>
      </p:sp>
      <p:sp>
        <p:nvSpPr>
          <p:cNvPr id="7" name="Shape 5"/>
          <p:cNvSpPr/>
          <p:nvPr/>
        </p:nvSpPr>
        <p:spPr>
          <a:xfrm>
            <a:off x="1051560" y="3840480"/>
            <a:ext cx="1965960" cy="0"/>
          </a:xfrm>
          <a:prstGeom prst="line">
            <a:avLst/>
          </a:prstGeom>
          <a:noFill/>
          <a:ln w="12700">
            <a:solidFill>
              <a:srgbClr val="FFFFFF"/>
            </a:solidFill>
            <a:prstDash val="dash"/>
          </a:ln>
        </p:spPr>
      </p:sp>
      <p:sp>
        <p:nvSpPr>
          <p:cNvPr id="8" name="Text 6"/>
          <p:cNvSpPr/>
          <p:nvPr/>
        </p:nvSpPr>
        <p:spPr>
          <a:xfrm>
            <a:off x="685800" y="4023360"/>
            <a:ext cx="2697480" cy="1097280"/>
          </a:xfrm>
          <a:prstGeom prst="rect">
            <a:avLst/>
          </a:prstGeom>
          <a:noFill/>
          <a:ln/>
        </p:spPr>
        <p:txBody>
          <a:bodyPr wrap="square" rtlCol="0" anchor="ctr"/>
          <a:lstStyle/>
          <a:p>
            <a:pPr algn="ctr" indent="0" marL="0">
              <a:lnSpc>
                <a:spcPct val="125000"/>
              </a:lnSpc>
              <a:buNone/>
            </a:pPr>
            <a:r>
              <a:rPr lang="en-US" sz="1150" i="1" dirty="0">
                <a:solidFill>
                  <a:srgbClr val="E4F4F1"/>
                </a:solidFill>
                <a:latin typeface="Calibri" pitchFamily="34" charset="0"/>
                <a:ea typeface="Calibri" pitchFamily="34" charset="-122"/>
                <a:cs typeface="Calibri" pitchFamily="34" charset="-120"/>
              </a:rPr>
              <a:t>"Apply complete!</a:t>
            </a:r>
            <a:endParaRPr lang="en-US" sz="1150" dirty="0"/>
          </a:p>
          <a:p>
            <a:pPr algn="ctr" indent="0" marL="0">
              <a:lnSpc>
                <a:spcPct val="125000"/>
              </a:lnSpc>
              <a:buNone/>
            </a:pPr>
            <a:r>
              <a:rPr lang="en-US" sz="1150" i="1" dirty="0">
                <a:solidFill>
                  <a:srgbClr val="E4F4F1"/>
                </a:solidFill>
                <a:latin typeface="Calibri" pitchFamily="34" charset="0"/>
                <a:ea typeface="Calibri" pitchFamily="34" charset="-122"/>
                <a:cs typeface="Calibri" pitchFamily="34" charset="-120"/>
              </a:rPr>
              <a:t>Resources: 64 added,</a:t>
            </a:r>
            <a:endParaRPr lang="en-US" sz="1150" dirty="0"/>
          </a:p>
          <a:p>
            <a:pPr algn="ctr" indent="0" marL="0">
              <a:lnSpc>
                <a:spcPct val="125000"/>
              </a:lnSpc>
              <a:buNone/>
            </a:pPr>
            <a:r>
              <a:rPr lang="en-US" sz="1150" i="1" dirty="0">
                <a:solidFill>
                  <a:srgbClr val="E4F4F1"/>
                </a:solidFill>
                <a:latin typeface="Calibri" pitchFamily="34" charset="0"/>
                <a:ea typeface="Calibri" pitchFamily="34" charset="-122"/>
                <a:cs typeface="Calibri" pitchFamily="34" charset="-120"/>
              </a:rPr>
              <a:t>0 changed, 0 destroyed."</a:t>
            </a:r>
            <a:endParaRPr lang="en-US" sz="1150" dirty="0"/>
          </a:p>
        </p:txBody>
      </p:sp>
      <p:sp>
        <p:nvSpPr>
          <p:cNvPr id="9" name="Text 7"/>
          <p:cNvSpPr/>
          <p:nvPr/>
        </p:nvSpPr>
        <p:spPr>
          <a:xfrm>
            <a:off x="3886200" y="1371600"/>
            <a:ext cx="3657600" cy="27432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Terraform files</a:t>
            </a:r>
            <a:endParaRPr lang="en-US" sz="1400" dirty="0"/>
          </a:p>
        </p:txBody>
      </p:sp>
      <p:sp>
        <p:nvSpPr>
          <p:cNvPr id="10" name="Text 8"/>
          <p:cNvSpPr/>
          <p:nvPr/>
        </p:nvSpPr>
        <p:spPr>
          <a:xfrm>
            <a:off x="3886200" y="1737360"/>
            <a:ext cx="3474720" cy="1737360"/>
          </a:xfrm>
          <a:prstGeom prst="rect">
            <a:avLst/>
          </a:prstGeom>
          <a:noFill/>
          <a:ln/>
        </p:spPr>
        <p:txBody>
          <a:bodyPr wrap="square" rtlCol="0" anchor="t"/>
          <a:lstStyle/>
          <a:p>
            <a:pPr marL="177800" indent="-177800">
              <a:lnSpc>
                <a:spcPct val="110000"/>
              </a:lnSpc>
              <a:spcAft>
                <a:spcPts val="600"/>
              </a:spcAft>
              <a:buSzPct val="100000"/>
              <a:buChar char="▪"/>
            </a:pPr>
            <a:r>
              <a:rPr lang="en-US" sz="1250" dirty="0">
                <a:solidFill>
                  <a:srgbClr val="16232E"/>
                </a:solidFill>
                <a:latin typeface="Calibri" pitchFamily="34" charset="0"/>
                <a:ea typeface="Calibri" pitchFamily="34" charset="-122"/>
                <a:cs typeface="Calibri" pitchFamily="34" charset="-120"/>
              </a:rPr>
              <a:t>eks.tf</a:t>
            </a:r>
            <a:endParaRPr lang="en-US" sz="1250" dirty="0"/>
          </a:p>
          <a:p>
            <a:pPr marL="177800" indent="-177800">
              <a:lnSpc>
                <a:spcPct val="110000"/>
              </a:lnSpc>
              <a:spcAft>
                <a:spcPts val="600"/>
              </a:spcAft>
              <a:buSzPct val="100000"/>
              <a:buChar char="▪"/>
            </a:pPr>
            <a:r>
              <a:rPr lang="en-US" sz="1250" dirty="0">
                <a:solidFill>
                  <a:srgbClr val="16232E"/>
                </a:solidFill>
                <a:latin typeface="Calibri" pitchFamily="34" charset="0"/>
                <a:ea typeface="Calibri" pitchFamily="34" charset="-122"/>
                <a:cs typeface="Calibri" pitchFamily="34" charset="-120"/>
              </a:rPr>
              <a:t>vpc.tf</a:t>
            </a:r>
            <a:endParaRPr lang="en-US" sz="1250" dirty="0"/>
          </a:p>
          <a:p>
            <a:pPr marL="177800" indent="-177800">
              <a:lnSpc>
                <a:spcPct val="110000"/>
              </a:lnSpc>
              <a:spcAft>
                <a:spcPts val="600"/>
              </a:spcAft>
              <a:buSzPct val="100000"/>
              <a:buChar char="▪"/>
            </a:pPr>
            <a:r>
              <a:rPr lang="en-US" sz="1250" dirty="0">
                <a:solidFill>
                  <a:srgbClr val="16232E"/>
                </a:solidFill>
                <a:latin typeface="Calibri" pitchFamily="34" charset="0"/>
                <a:ea typeface="Calibri" pitchFamily="34" charset="-122"/>
                <a:cs typeface="Calibri" pitchFamily="34" charset="-120"/>
              </a:rPr>
              <a:t>variables.tf</a:t>
            </a:r>
            <a:endParaRPr lang="en-US" sz="1250" dirty="0"/>
          </a:p>
          <a:p>
            <a:pPr marL="177800" indent="-177800">
              <a:lnSpc>
                <a:spcPct val="110000"/>
              </a:lnSpc>
              <a:spcAft>
                <a:spcPts val="600"/>
              </a:spcAft>
              <a:buSzPct val="100000"/>
              <a:buChar char="▪"/>
            </a:pPr>
            <a:r>
              <a:rPr lang="en-US" sz="1250" dirty="0">
                <a:solidFill>
                  <a:srgbClr val="16232E"/>
                </a:solidFill>
                <a:latin typeface="Calibri" pitchFamily="34" charset="0"/>
                <a:ea typeface="Calibri" pitchFamily="34" charset="-122"/>
                <a:cs typeface="Calibri" pitchFamily="34" charset="-120"/>
              </a:rPr>
              <a:t>versions.tf</a:t>
            </a:r>
            <a:endParaRPr lang="en-US" sz="1250" dirty="0"/>
          </a:p>
          <a:p>
            <a:pPr marL="177800" indent="-177800">
              <a:lnSpc>
                <a:spcPct val="110000"/>
              </a:lnSpc>
              <a:spcAft>
                <a:spcPts val="600"/>
              </a:spcAft>
              <a:buSzPct val="100000"/>
              <a:buChar char="▪"/>
            </a:pPr>
            <a:r>
              <a:rPr lang="en-US" sz="1250" dirty="0">
                <a:solidFill>
                  <a:srgbClr val="16232E"/>
                </a:solidFill>
                <a:latin typeface="Calibri" pitchFamily="34" charset="0"/>
                <a:ea typeface="Calibri" pitchFamily="34" charset="-122"/>
                <a:cs typeface="Calibri" pitchFamily="34" charset="-120"/>
              </a:rPr>
              <a:t>outputs.tf</a:t>
            </a:r>
            <a:endParaRPr lang="en-US" sz="1250" dirty="0"/>
          </a:p>
        </p:txBody>
      </p:sp>
      <p:sp>
        <p:nvSpPr>
          <p:cNvPr id="11" name="Text 9"/>
          <p:cNvSpPr/>
          <p:nvPr/>
        </p:nvSpPr>
        <p:spPr>
          <a:xfrm>
            <a:off x="7635240" y="1371600"/>
            <a:ext cx="3931920" cy="27432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What Terraform provisioned</a:t>
            </a:r>
            <a:endParaRPr lang="en-US" sz="1400" dirty="0"/>
          </a:p>
        </p:txBody>
      </p:sp>
      <p:sp>
        <p:nvSpPr>
          <p:cNvPr id="12" name="Text 10"/>
          <p:cNvSpPr/>
          <p:nvPr/>
        </p:nvSpPr>
        <p:spPr>
          <a:xfrm>
            <a:off x="7635240" y="1737360"/>
            <a:ext cx="4023360" cy="1920240"/>
          </a:xfrm>
          <a:prstGeom prst="rect">
            <a:avLst/>
          </a:prstGeom>
          <a:noFill/>
          <a:ln/>
        </p:spPr>
        <p:txBody>
          <a:bodyPr wrap="square" rtlCol="0" anchor="t"/>
          <a:lstStyle/>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VPC with public + private subnets, NAT &amp; Internet Gateway</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EKS cluster + managed node group</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IAM roles/policies, security groups, KMS resources</a:t>
            </a:r>
            <a:endParaRPr lang="en-US" sz="1250" dirty="0"/>
          </a:p>
          <a:p>
            <a:pPr marL="177800" indent="-177800">
              <a:lnSpc>
                <a:spcPct val="110000"/>
              </a:lnSpc>
              <a:spcAft>
                <a:spcPts val="800"/>
              </a:spcAft>
              <a:buSzPct val="100000"/>
              <a:buChar char="▪"/>
            </a:pPr>
            <a:r>
              <a:rPr lang="en-US" sz="1250" dirty="0">
                <a:solidFill>
                  <a:srgbClr val="16232E"/>
                </a:solidFill>
                <a:latin typeface="Calibri" pitchFamily="34" charset="0"/>
                <a:ea typeface="Calibri" pitchFamily="34" charset="-122"/>
                <a:cs typeface="Calibri" pitchFamily="34" charset="-120"/>
              </a:rPr>
              <a:t>EKS addons</a:t>
            </a:r>
            <a:endParaRPr lang="en-US" sz="1250" dirty="0"/>
          </a:p>
        </p:txBody>
      </p:sp>
      <p:sp>
        <p:nvSpPr>
          <p:cNvPr id="13" name="Shape 11"/>
          <p:cNvSpPr/>
          <p:nvPr/>
        </p:nvSpPr>
        <p:spPr>
          <a:xfrm>
            <a:off x="3886200" y="3703320"/>
            <a:ext cx="7772400" cy="2606040"/>
          </a:xfrm>
          <a:prstGeom prst="roundRect">
            <a:avLst>
              <a:gd name="adj" fmla="val 2807"/>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14" name="Shape 12"/>
          <p:cNvSpPr/>
          <p:nvPr/>
        </p:nvSpPr>
        <p:spPr>
          <a:xfrm>
            <a:off x="4087368" y="3867912"/>
            <a:ext cx="978408" cy="292608"/>
          </a:xfrm>
          <a:prstGeom prst="roundRect">
            <a:avLst>
              <a:gd name="adj" fmla="val 18750"/>
            </a:avLst>
          </a:prstGeom>
          <a:solidFill>
            <a:srgbClr val="C1543A"/>
          </a:solidFill>
          <a:ln/>
        </p:spPr>
      </p:sp>
      <p:sp>
        <p:nvSpPr>
          <p:cNvPr id="15" name="Text 13"/>
          <p:cNvSpPr/>
          <p:nvPr/>
        </p:nvSpPr>
        <p:spPr>
          <a:xfrm>
            <a:off x="4087368" y="386334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16" name="Text 14"/>
          <p:cNvSpPr/>
          <p:nvPr/>
        </p:nvSpPr>
        <p:spPr>
          <a:xfrm>
            <a:off x="4087368" y="4197096"/>
            <a:ext cx="7370064" cy="778154"/>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The EKS API endpoint was initially open to unrestricted access (0.0.0.0/0), which is a common but risky default for a security-conscious deployment.</a:t>
            </a:r>
            <a:endParaRPr lang="en-US" sz="1250" dirty="0"/>
          </a:p>
        </p:txBody>
      </p:sp>
      <p:sp>
        <p:nvSpPr>
          <p:cNvPr id="17" name="Shape 15"/>
          <p:cNvSpPr/>
          <p:nvPr/>
        </p:nvSpPr>
        <p:spPr>
          <a:xfrm>
            <a:off x="4087368" y="5030114"/>
            <a:ext cx="576072" cy="292608"/>
          </a:xfrm>
          <a:prstGeom prst="roundRect">
            <a:avLst>
              <a:gd name="adj" fmla="val 18750"/>
            </a:avLst>
          </a:prstGeom>
          <a:solidFill>
            <a:srgbClr val="1C7293"/>
          </a:solidFill>
          <a:ln/>
        </p:spPr>
      </p:sp>
      <p:sp>
        <p:nvSpPr>
          <p:cNvPr id="18" name="Text 16"/>
          <p:cNvSpPr/>
          <p:nvPr/>
        </p:nvSpPr>
        <p:spPr>
          <a:xfrm>
            <a:off x="4087368" y="5025542"/>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19" name="Text 17"/>
          <p:cNvSpPr/>
          <p:nvPr/>
        </p:nvSpPr>
        <p:spPr>
          <a:xfrm>
            <a:off x="4087368" y="5377586"/>
            <a:ext cx="7370064" cy="913486"/>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Passed -var='my_ip_cidr=223.233.81.150/32' so the Terraform config restricted the EKS API endpoint to only the engineer's public IP — no unrestricted internet access to the control plane.</a:t>
            </a:r>
            <a:endParaRPr lang="en-US" sz="1250" dirty="0"/>
          </a:p>
        </p:txBody>
      </p:sp>
      <p:sp>
        <p:nvSpPr>
          <p:cNvPr id="20" name="Text 18"/>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1" name="Text 19"/>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COMPUTE SIZING</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EKS Cluster Setup</a:t>
            </a:r>
            <a:endParaRPr lang="en-US" sz="3000" dirty="0"/>
          </a:p>
        </p:txBody>
      </p:sp>
      <p:sp>
        <p:nvSpPr>
          <p:cNvPr id="4" name="Shape 2"/>
          <p:cNvSpPr/>
          <p:nvPr/>
        </p:nvSpPr>
        <p:spPr>
          <a:xfrm>
            <a:off x="502920" y="1325880"/>
            <a:ext cx="5029200" cy="2880360"/>
          </a:xfrm>
          <a:prstGeom prst="roundRect">
            <a:avLst>
              <a:gd name="adj" fmla="val 2540"/>
            </a:avLst>
          </a:prstGeom>
          <a:solidFill>
            <a:srgbClr val="FFFFFF"/>
          </a:solidFill>
          <a:ln w="12700">
            <a:solidFill>
              <a:srgbClr val="D8E3E9"/>
            </a:solidFill>
            <a:prstDash val="solid"/>
          </a:ln>
        </p:spPr>
      </p:sp>
      <p:sp>
        <p:nvSpPr>
          <p:cNvPr id="5" name="Text 3"/>
          <p:cNvSpPr/>
          <p:nvPr/>
        </p:nvSpPr>
        <p:spPr>
          <a:xfrm>
            <a:off x="777240" y="1508760"/>
            <a:ext cx="4572000" cy="32004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Cluster: observability-pipeline</a:t>
            </a:r>
            <a:endParaRPr lang="en-US" sz="1400" dirty="0"/>
          </a:p>
        </p:txBody>
      </p:sp>
      <p:sp>
        <p:nvSpPr>
          <p:cNvPr id="6" name="Text 4"/>
          <p:cNvSpPr/>
          <p:nvPr/>
        </p:nvSpPr>
        <p:spPr>
          <a:xfrm>
            <a:off x="777240" y="1965960"/>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Instance type</a:t>
            </a:r>
            <a:endParaRPr lang="en-US" sz="1250" dirty="0"/>
          </a:p>
        </p:txBody>
      </p:sp>
      <p:sp>
        <p:nvSpPr>
          <p:cNvPr id="7" name="Text 5"/>
          <p:cNvSpPr/>
          <p:nvPr/>
        </p:nvSpPr>
        <p:spPr>
          <a:xfrm>
            <a:off x="3017520" y="1965960"/>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t3.small</a:t>
            </a:r>
            <a:endParaRPr lang="en-US" sz="1250" dirty="0"/>
          </a:p>
        </p:txBody>
      </p:sp>
      <p:sp>
        <p:nvSpPr>
          <p:cNvPr id="8" name="Text 6"/>
          <p:cNvSpPr/>
          <p:nvPr/>
        </p:nvSpPr>
        <p:spPr>
          <a:xfrm>
            <a:off x="777240" y="2313432"/>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Capacity</a:t>
            </a:r>
            <a:endParaRPr lang="en-US" sz="1250" dirty="0"/>
          </a:p>
        </p:txBody>
      </p:sp>
      <p:sp>
        <p:nvSpPr>
          <p:cNvPr id="9" name="Text 7"/>
          <p:cNvSpPr/>
          <p:nvPr/>
        </p:nvSpPr>
        <p:spPr>
          <a:xfrm>
            <a:off x="3017520" y="2313432"/>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ON_DEMAND</a:t>
            </a:r>
            <a:endParaRPr lang="en-US" sz="1250" dirty="0"/>
          </a:p>
        </p:txBody>
      </p:sp>
      <p:sp>
        <p:nvSpPr>
          <p:cNvPr id="10" name="Text 8"/>
          <p:cNvSpPr/>
          <p:nvPr/>
        </p:nvSpPr>
        <p:spPr>
          <a:xfrm>
            <a:off x="777240" y="2660904"/>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Desired nodes</a:t>
            </a:r>
            <a:endParaRPr lang="en-US" sz="1250" dirty="0"/>
          </a:p>
        </p:txBody>
      </p:sp>
      <p:sp>
        <p:nvSpPr>
          <p:cNvPr id="11" name="Text 9"/>
          <p:cNvSpPr/>
          <p:nvPr/>
        </p:nvSpPr>
        <p:spPr>
          <a:xfrm>
            <a:off x="3017520" y="2660904"/>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4</a:t>
            </a:r>
            <a:endParaRPr lang="en-US" sz="1250" dirty="0"/>
          </a:p>
        </p:txBody>
      </p:sp>
      <p:sp>
        <p:nvSpPr>
          <p:cNvPr id="12" name="Text 10"/>
          <p:cNvSpPr/>
          <p:nvPr/>
        </p:nvSpPr>
        <p:spPr>
          <a:xfrm>
            <a:off x="777240" y="3008376"/>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Min / Max nodes</a:t>
            </a:r>
            <a:endParaRPr lang="en-US" sz="1250" dirty="0"/>
          </a:p>
        </p:txBody>
      </p:sp>
      <p:sp>
        <p:nvSpPr>
          <p:cNvPr id="13" name="Text 11"/>
          <p:cNvSpPr/>
          <p:nvPr/>
        </p:nvSpPr>
        <p:spPr>
          <a:xfrm>
            <a:off x="3017520" y="3008376"/>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1 / 4</a:t>
            </a:r>
            <a:endParaRPr lang="en-US" sz="1250" dirty="0"/>
          </a:p>
        </p:txBody>
      </p:sp>
      <p:sp>
        <p:nvSpPr>
          <p:cNvPr id="14" name="Text 12"/>
          <p:cNvSpPr/>
          <p:nvPr/>
        </p:nvSpPr>
        <p:spPr>
          <a:xfrm>
            <a:off x="777240" y="3355848"/>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Node placement</a:t>
            </a:r>
            <a:endParaRPr lang="en-US" sz="1250" dirty="0"/>
          </a:p>
        </p:txBody>
      </p:sp>
      <p:sp>
        <p:nvSpPr>
          <p:cNvPr id="15" name="Text 13"/>
          <p:cNvSpPr/>
          <p:nvPr/>
        </p:nvSpPr>
        <p:spPr>
          <a:xfrm>
            <a:off x="3017520" y="3355848"/>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Private subnets</a:t>
            </a:r>
            <a:endParaRPr lang="en-US" sz="1250" dirty="0"/>
          </a:p>
        </p:txBody>
      </p:sp>
      <p:sp>
        <p:nvSpPr>
          <p:cNvPr id="16" name="Text 14"/>
          <p:cNvSpPr/>
          <p:nvPr/>
        </p:nvSpPr>
        <p:spPr>
          <a:xfrm>
            <a:off x="777240" y="3703320"/>
            <a:ext cx="2194560" cy="329184"/>
          </a:xfrm>
          <a:prstGeom prst="rect">
            <a:avLst/>
          </a:prstGeom>
          <a:noFill/>
          <a:ln/>
        </p:spPr>
        <p:txBody>
          <a:bodyPr wrap="square" rtlCol="0" anchor="ctr"/>
          <a:lstStyle/>
          <a:p>
            <a:pPr indent="0" marL="0">
              <a:buNone/>
            </a:pPr>
            <a:r>
              <a:rPr lang="en-US" sz="1250" dirty="0">
                <a:solidFill>
                  <a:srgbClr val="5C7080"/>
                </a:solidFill>
                <a:latin typeface="Calibri" pitchFamily="34" charset="0"/>
                <a:ea typeface="Calibri" pitchFamily="34" charset="-122"/>
                <a:cs typeface="Calibri" pitchFamily="34" charset="-120"/>
              </a:rPr>
              <a:t>Kubernetes version</a:t>
            </a:r>
            <a:endParaRPr lang="en-US" sz="1250" dirty="0"/>
          </a:p>
        </p:txBody>
      </p:sp>
      <p:sp>
        <p:nvSpPr>
          <p:cNvPr id="17" name="Text 15"/>
          <p:cNvSpPr/>
          <p:nvPr/>
        </p:nvSpPr>
        <p:spPr>
          <a:xfrm>
            <a:off x="3017520" y="3703320"/>
            <a:ext cx="2377440" cy="329184"/>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v1.33.13</a:t>
            </a:r>
            <a:endParaRPr lang="en-US" sz="1250" dirty="0"/>
          </a:p>
        </p:txBody>
      </p:sp>
      <p:sp>
        <p:nvSpPr>
          <p:cNvPr id="18" name="Shape 16"/>
          <p:cNvSpPr/>
          <p:nvPr/>
        </p:nvSpPr>
        <p:spPr>
          <a:xfrm>
            <a:off x="5760720" y="1325880"/>
            <a:ext cx="5897880" cy="1051560"/>
          </a:xfrm>
          <a:prstGeom prst="roundRect">
            <a:avLst>
              <a:gd name="adj" fmla="val 6957"/>
            </a:avLst>
          </a:prstGeom>
          <a:solidFill>
            <a:srgbClr val="0B3245"/>
          </a:solidFill>
          <a:ln/>
        </p:spPr>
      </p:sp>
      <p:sp>
        <p:nvSpPr>
          <p:cNvPr id="19" name="Text 17"/>
          <p:cNvSpPr/>
          <p:nvPr/>
        </p:nvSpPr>
        <p:spPr>
          <a:xfrm>
            <a:off x="6035040" y="1444752"/>
            <a:ext cx="5486400" cy="2743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VPC CNI optimization</a:t>
            </a:r>
            <a:endParaRPr lang="en-US" sz="1350" dirty="0"/>
          </a:p>
        </p:txBody>
      </p:sp>
      <p:sp>
        <p:nvSpPr>
          <p:cNvPr id="20" name="Text 18"/>
          <p:cNvSpPr/>
          <p:nvPr/>
        </p:nvSpPr>
        <p:spPr>
          <a:xfrm>
            <a:off x="6035040" y="1737360"/>
            <a:ext cx="5486400" cy="594360"/>
          </a:xfrm>
          <a:prstGeom prst="rect">
            <a:avLst/>
          </a:prstGeom>
          <a:noFill/>
          <a:ln/>
        </p:spPr>
        <p:txBody>
          <a:bodyPr wrap="square" rtlCol="0" anchor="ctr"/>
          <a:lstStyle/>
          <a:p>
            <a:pPr indent="0" marL="0">
              <a:lnSpc>
                <a:spcPct val="118000"/>
              </a:lnSpc>
              <a:buNone/>
            </a:pPr>
            <a:r>
              <a:rPr lang="en-US" sz="1100" dirty="0">
                <a:solidFill>
                  <a:srgbClr val="D6E5EA"/>
                </a:solidFill>
                <a:latin typeface="Calibri" pitchFamily="34" charset="0"/>
                <a:ea typeface="Calibri" pitchFamily="34" charset="-122"/>
                <a:cs typeface="Calibri" pitchFamily="34" charset="-120"/>
              </a:rPr>
              <a:t>Enabled prefix delegation on the AWS VPC CNI addon: ENABLE_PREFIX_DELEGATION=true, WARM_PREFIX_TARGET=1 — improves IP allocation efficiency across pods on each node.</a:t>
            </a:r>
            <a:endParaRPr lang="en-US" sz="1100" dirty="0"/>
          </a:p>
        </p:txBody>
      </p:sp>
      <p:sp>
        <p:nvSpPr>
          <p:cNvPr id="21" name="Shape 19"/>
          <p:cNvSpPr/>
          <p:nvPr/>
        </p:nvSpPr>
        <p:spPr>
          <a:xfrm>
            <a:off x="5760720" y="2514600"/>
            <a:ext cx="5897880" cy="1874520"/>
          </a:xfrm>
          <a:prstGeom prst="roundRect">
            <a:avLst>
              <a:gd name="adj" fmla="val 3902"/>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22" name="Shape 20"/>
          <p:cNvSpPr/>
          <p:nvPr/>
        </p:nvSpPr>
        <p:spPr>
          <a:xfrm>
            <a:off x="5961888" y="2679192"/>
            <a:ext cx="978408" cy="292608"/>
          </a:xfrm>
          <a:prstGeom prst="roundRect">
            <a:avLst>
              <a:gd name="adj" fmla="val 18750"/>
            </a:avLst>
          </a:prstGeom>
          <a:solidFill>
            <a:srgbClr val="C1543A"/>
          </a:solidFill>
          <a:ln/>
        </p:spPr>
      </p:sp>
      <p:sp>
        <p:nvSpPr>
          <p:cNvPr id="23" name="Text 21"/>
          <p:cNvSpPr/>
          <p:nvPr/>
        </p:nvSpPr>
        <p:spPr>
          <a:xfrm>
            <a:off x="5961888" y="267462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24" name="Text 22"/>
          <p:cNvSpPr/>
          <p:nvPr/>
        </p:nvSpPr>
        <p:spPr>
          <a:xfrm>
            <a:off x="5961888" y="3008376"/>
            <a:ext cx="5495544" cy="441655"/>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t3.micro nodes were the first choice, but they had insufficient CPU/memory headroom to comfortably run Vector and OpenObserve workloads together.</a:t>
            </a:r>
            <a:endParaRPr lang="en-US" sz="1250" dirty="0"/>
          </a:p>
        </p:txBody>
      </p:sp>
      <p:sp>
        <p:nvSpPr>
          <p:cNvPr id="25" name="Shape 23"/>
          <p:cNvSpPr/>
          <p:nvPr/>
        </p:nvSpPr>
        <p:spPr>
          <a:xfrm>
            <a:off x="5961888" y="3504895"/>
            <a:ext cx="576072" cy="292608"/>
          </a:xfrm>
          <a:prstGeom prst="roundRect">
            <a:avLst>
              <a:gd name="adj" fmla="val 18750"/>
            </a:avLst>
          </a:prstGeom>
          <a:solidFill>
            <a:srgbClr val="1C7293"/>
          </a:solidFill>
          <a:ln/>
        </p:spPr>
      </p:sp>
      <p:sp>
        <p:nvSpPr>
          <p:cNvPr id="26" name="Text 24"/>
          <p:cNvSpPr/>
          <p:nvPr/>
        </p:nvSpPr>
        <p:spPr>
          <a:xfrm>
            <a:off x="5961888" y="3500323"/>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27" name="Text 25"/>
          <p:cNvSpPr/>
          <p:nvPr/>
        </p:nvSpPr>
        <p:spPr>
          <a:xfrm>
            <a:off x="5961888" y="3852367"/>
            <a:ext cx="5495544" cy="518465"/>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Switched the managed node group to t3.small, giving enough compute for the DaemonSet plus the OpenObserve deployment without resource pressure.</a:t>
            </a:r>
            <a:endParaRPr lang="en-US" sz="1250" dirty="0"/>
          </a:p>
        </p:txBody>
      </p:sp>
      <p:sp>
        <p:nvSpPr>
          <p:cNvPr id="28" name="Shape 26"/>
          <p:cNvSpPr/>
          <p:nvPr/>
        </p:nvSpPr>
        <p:spPr>
          <a:xfrm>
            <a:off x="502920" y="4617720"/>
            <a:ext cx="11155680" cy="1051560"/>
          </a:xfrm>
          <a:prstGeom prst="roundRect">
            <a:avLst>
              <a:gd name="adj" fmla="val 6957"/>
            </a:avLst>
          </a:prstGeom>
          <a:solidFill>
            <a:srgbClr val="EAF1F4"/>
          </a:solidFill>
          <a:ln w="12700">
            <a:solidFill>
              <a:srgbClr val="D8E3E9"/>
            </a:solidFill>
            <a:prstDash val="solid"/>
          </a:ln>
        </p:spPr>
      </p:sp>
      <p:sp>
        <p:nvSpPr>
          <p:cNvPr id="29" name="Text 27"/>
          <p:cNvSpPr/>
          <p:nvPr/>
        </p:nvSpPr>
        <p:spPr>
          <a:xfrm>
            <a:off x="777240" y="4617720"/>
            <a:ext cx="10607040" cy="1051560"/>
          </a:xfrm>
          <a:prstGeom prst="rect">
            <a:avLst/>
          </a:prstGeom>
          <a:noFill/>
          <a:ln/>
        </p:spPr>
        <p:txBody>
          <a:bodyPr wrap="square" rtlCol="0" anchor="ctr"/>
          <a:lstStyle/>
          <a:p>
            <a:pPr indent="0" marL="0">
              <a:lnSpc>
                <a:spcPct val="130000"/>
              </a:lnSpc>
              <a:buNone/>
            </a:pPr>
            <a:r>
              <a:rPr lang="en-US" sz="1150" dirty="0">
                <a:solidFill>
                  <a:srgbClr val="0B3245"/>
                </a:solidFill>
                <a:latin typeface="Consolas" pitchFamily="34" charset="0"/>
                <a:ea typeface="Consolas" pitchFamily="34" charset="-122"/>
                <a:cs typeface="Consolas" pitchFamily="34" charset="-120"/>
              </a:rPr>
              <a:t>kubectl get nodes → 4 Ready nodes, all running Kubernetes v1.33.13, connected via:</a:t>
            </a:r>
            <a:endParaRPr lang="en-US" sz="1150" dirty="0"/>
          </a:p>
          <a:p>
            <a:pPr indent="0" marL="0">
              <a:lnSpc>
                <a:spcPct val="130000"/>
              </a:lnSpc>
              <a:buNone/>
            </a:pPr>
            <a:r>
              <a:rPr lang="en-US" sz="1150" dirty="0">
                <a:solidFill>
                  <a:srgbClr val="0B3245"/>
                </a:solidFill>
                <a:latin typeface="Consolas" pitchFamily="34" charset="0"/>
                <a:ea typeface="Consolas" pitchFamily="34" charset="-122"/>
                <a:cs typeface="Consolas" pitchFamily="34" charset="-120"/>
              </a:rPr>
              <a:t>aws eks update-kubeconfig --region ap-south-1 --name observability-pipeline</a:t>
            </a:r>
            <a:endParaRPr lang="en-US" sz="1150" dirty="0"/>
          </a:p>
        </p:txBody>
      </p:sp>
      <p:sp>
        <p:nvSpPr>
          <p:cNvPr id="30" name="Text 28"/>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31" name="Text 29"/>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DEFENSE IN DEPTH</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Security Design</a:t>
            </a:r>
            <a:endParaRPr lang="en-US" sz="3000" dirty="0"/>
          </a:p>
        </p:txBody>
      </p:sp>
      <p:sp>
        <p:nvSpPr>
          <p:cNvPr id="4" name="Shape 2"/>
          <p:cNvSpPr/>
          <p:nvPr/>
        </p:nvSpPr>
        <p:spPr>
          <a:xfrm>
            <a:off x="502920" y="1371600"/>
            <a:ext cx="3611880" cy="4297680"/>
          </a:xfrm>
          <a:prstGeom prst="roundRect">
            <a:avLst>
              <a:gd name="adj" fmla="val 2025"/>
            </a:avLst>
          </a:prstGeom>
          <a:solidFill>
            <a:srgbClr val="FFFFFF"/>
          </a:solidFill>
          <a:ln w="12700">
            <a:solidFill>
              <a:srgbClr val="D8E3E9"/>
            </a:solidFill>
            <a:prstDash val="solid"/>
          </a:ln>
        </p:spPr>
      </p:sp>
      <p:sp>
        <p:nvSpPr>
          <p:cNvPr id="5" name="Shape 3"/>
          <p:cNvSpPr/>
          <p:nvPr/>
        </p:nvSpPr>
        <p:spPr>
          <a:xfrm>
            <a:off x="502920" y="1371600"/>
            <a:ext cx="3611880" cy="502920"/>
          </a:xfrm>
          <a:prstGeom prst="roundRect">
            <a:avLst>
              <a:gd name="adj" fmla="val 14545"/>
            </a:avLst>
          </a:prstGeom>
          <a:solidFill>
            <a:srgbClr val="0B3245"/>
          </a:solidFill>
          <a:ln/>
        </p:spPr>
      </p:sp>
      <p:sp>
        <p:nvSpPr>
          <p:cNvPr id="6" name="Shape 4"/>
          <p:cNvSpPr/>
          <p:nvPr/>
        </p:nvSpPr>
        <p:spPr>
          <a:xfrm>
            <a:off x="502920" y="1627632"/>
            <a:ext cx="3611880" cy="246888"/>
          </a:xfrm>
          <a:prstGeom prst="rect">
            <a:avLst/>
          </a:prstGeom>
          <a:solidFill>
            <a:srgbClr val="0B3245"/>
          </a:solidFill>
          <a:ln/>
        </p:spPr>
      </p:sp>
      <p:sp>
        <p:nvSpPr>
          <p:cNvPr id="7" name="Text 5"/>
          <p:cNvSpPr/>
          <p:nvPr/>
        </p:nvSpPr>
        <p:spPr>
          <a:xfrm>
            <a:off x="502920" y="1371600"/>
            <a:ext cx="361188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AWS</a:t>
            </a:r>
            <a:endParaRPr lang="en-US" sz="1500" dirty="0"/>
          </a:p>
        </p:txBody>
      </p:sp>
      <p:sp>
        <p:nvSpPr>
          <p:cNvPr id="8" name="Text 6"/>
          <p:cNvSpPr/>
          <p:nvPr/>
        </p:nvSpPr>
        <p:spPr>
          <a:xfrm>
            <a:off x="731520" y="2103120"/>
            <a:ext cx="3154680" cy="3383280"/>
          </a:xfrm>
          <a:prstGeom prst="rect">
            <a:avLst/>
          </a:prstGeom>
          <a:noFill/>
          <a:ln/>
        </p:spPr>
        <p:txBody>
          <a:bodyPr wrap="square" rtlCol="0" anchor="t"/>
          <a:lstStyle/>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IAM-based authentication (devops-assignment user)</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EKS API access restricted to a single /32 IP</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Worker nodes in private subnets</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NAT Gateway for controlled outbound access</a:t>
            </a:r>
            <a:endParaRPr lang="en-US" sz="1150" dirty="0"/>
          </a:p>
        </p:txBody>
      </p:sp>
      <p:sp>
        <p:nvSpPr>
          <p:cNvPr id="9" name="Shape 7"/>
          <p:cNvSpPr/>
          <p:nvPr/>
        </p:nvSpPr>
        <p:spPr>
          <a:xfrm>
            <a:off x="4297680" y="1371600"/>
            <a:ext cx="3611880" cy="4297680"/>
          </a:xfrm>
          <a:prstGeom prst="roundRect">
            <a:avLst>
              <a:gd name="adj" fmla="val 2025"/>
            </a:avLst>
          </a:prstGeom>
          <a:solidFill>
            <a:srgbClr val="FFFFFF"/>
          </a:solidFill>
          <a:ln w="12700">
            <a:solidFill>
              <a:srgbClr val="D8E3E9"/>
            </a:solidFill>
            <a:prstDash val="solid"/>
          </a:ln>
        </p:spPr>
      </p:sp>
      <p:sp>
        <p:nvSpPr>
          <p:cNvPr id="10" name="Shape 8"/>
          <p:cNvSpPr/>
          <p:nvPr/>
        </p:nvSpPr>
        <p:spPr>
          <a:xfrm>
            <a:off x="4297680" y="1371600"/>
            <a:ext cx="3611880" cy="502920"/>
          </a:xfrm>
          <a:prstGeom prst="roundRect">
            <a:avLst>
              <a:gd name="adj" fmla="val 14545"/>
            </a:avLst>
          </a:prstGeom>
          <a:solidFill>
            <a:srgbClr val="1C7293"/>
          </a:solidFill>
          <a:ln/>
        </p:spPr>
      </p:sp>
      <p:sp>
        <p:nvSpPr>
          <p:cNvPr id="11" name="Shape 9"/>
          <p:cNvSpPr/>
          <p:nvPr/>
        </p:nvSpPr>
        <p:spPr>
          <a:xfrm>
            <a:off x="4297680" y="1627632"/>
            <a:ext cx="3611880" cy="246888"/>
          </a:xfrm>
          <a:prstGeom prst="rect">
            <a:avLst/>
          </a:prstGeom>
          <a:solidFill>
            <a:srgbClr val="1C7293"/>
          </a:solidFill>
          <a:ln/>
        </p:spPr>
      </p:sp>
      <p:sp>
        <p:nvSpPr>
          <p:cNvPr id="12" name="Text 10"/>
          <p:cNvSpPr/>
          <p:nvPr/>
        </p:nvSpPr>
        <p:spPr>
          <a:xfrm>
            <a:off x="4297680" y="1371600"/>
            <a:ext cx="361188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Kubernetes</a:t>
            </a:r>
            <a:endParaRPr lang="en-US" sz="1500" dirty="0"/>
          </a:p>
        </p:txBody>
      </p:sp>
      <p:sp>
        <p:nvSpPr>
          <p:cNvPr id="13" name="Text 11"/>
          <p:cNvSpPr/>
          <p:nvPr/>
        </p:nvSpPr>
        <p:spPr>
          <a:xfrm>
            <a:off x="4526280" y="2103120"/>
            <a:ext cx="3154680" cy="3383280"/>
          </a:xfrm>
          <a:prstGeom prst="rect">
            <a:avLst/>
          </a:prstGeom>
          <a:noFill/>
          <a:ln/>
        </p:spPr>
        <p:txBody>
          <a:bodyPr wrap="square" rtlCol="0" anchor="t"/>
          <a:lstStyle/>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Dedicated Vector ServiceAccount</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RBAC scoped to get/list/watch only</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OpenObserve credentials stored as Secrets</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OpenObserve namespace excluded from log collection</a:t>
            </a:r>
            <a:endParaRPr lang="en-US" sz="1150" dirty="0"/>
          </a:p>
        </p:txBody>
      </p:sp>
      <p:sp>
        <p:nvSpPr>
          <p:cNvPr id="14" name="Shape 12"/>
          <p:cNvSpPr/>
          <p:nvPr/>
        </p:nvSpPr>
        <p:spPr>
          <a:xfrm>
            <a:off x="8092440" y="1371600"/>
            <a:ext cx="3611880" cy="4297680"/>
          </a:xfrm>
          <a:prstGeom prst="roundRect">
            <a:avLst>
              <a:gd name="adj" fmla="val 2025"/>
            </a:avLst>
          </a:prstGeom>
          <a:solidFill>
            <a:srgbClr val="FFFFFF"/>
          </a:solidFill>
          <a:ln w="12700">
            <a:solidFill>
              <a:srgbClr val="D8E3E9"/>
            </a:solidFill>
            <a:prstDash val="solid"/>
          </a:ln>
        </p:spPr>
      </p:sp>
      <p:sp>
        <p:nvSpPr>
          <p:cNvPr id="15" name="Shape 13"/>
          <p:cNvSpPr/>
          <p:nvPr/>
        </p:nvSpPr>
        <p:spPr>
          <a:xfrm>
            <a:off x="8092440" y="1371600"/>
            <a:ext cx="3611880" cy="502920"/>
          </a:xfrm>
          <a:prstGeom prst="roundRect">
            <a:avLst>
              <a:gd name="adj" fmla="val 14545"/>
            </a:avLst>
          </a:prstGeom>
          <a:solidFill>
            <a:srgbClr val="3D5A73"/>
          </a:solidFill>
          <a:ln/>
        </p:spPr>
      </p:sp>
      <p:sp>
        <p:nvSpPr>
          <p:cNvPr id="16" name="Shape 14"/>
          <p:cNvSpPr/>
          <p:nvPr/>
        </p:nvSpPr>
        <p:spPr>
          <a:xfrm>
            <a:off x="8092440" y="1627632"/>
            <a:ext cx="3611880" cy="246888"/>
          </a:xfrm>
          <a:prstGeom prst="rect">
            <a:avLst/>
          </a:prstGeom>
          <a:solidFill>
            <a:srgbClr val="3D5A73"/>
          </a:solidFill>
          <a:ln/>
        </p:spPr>
      </p:sp>
      <p:sp>
        <p:nvSpPr>
          <p:cNvPr id="17" name="Text 15"/>
          <p:cNvSpPr/>
          <p:nvPr/>
        </p:nvSpPr>
        <p:spPr>
          <a:xfrm>
            <a:off x="8092440" y="1371600"/>
            <a:ext cx="3611880" cy="50292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Git / GitHub</a:t>
            </a:r>
            <a:endParaRPr lang="en-US" sz="1500" dirty="0"/>
          </a:p>
        </p:txBody>
      </p:sp>
      <p:sp>
        <p:nvSpPr>
          <p:cNvPr id="18" name="Text 16"/>
          <p:cNvSpPr/>
          <p:nvPr/>
        </p:nvSpPr>
        <p:spPr>
          <a:xfrm>
            <a:off x="8321040" y="2103120"/>
            <a:ext cx="3154680" cy="3383280"/>
          </a:xfrm>
          <a:prstGeom prst="rect">
            <a:avLst/>
          </a:prstGeom>
          <a:noFill/>
          <a:ln/>
        </p:spPr>
        <p:txBody>
          <a:bodyPr wrap="square" rtlCol="0" anchor="t"/>
          <a:lstStyle/>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Terraform state kept out of Git by default</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Credentials referenced via env vars, never hardcoded</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GitHub Personal Access Token (not account password)</a:t>
            </a:r>
            <a:endParaRPr lang="en-US" sz="1150" dirty="0"/>
          </a:p>
          <a:p>
            <a:pPr marL="177800" indent="-177800">
              <a:lnSpc>
                <a:spcPct val="110000"/>
              </a:lnSpc>
              <a:spcAft>
                <a:spcPts val="1200"/>
              </a:spcAft>
              <a:buSzPct val="100000"/>
              <a:buChar char="▪"/>
            </a:pPr>
            <a:r>
              <a:rPr lang="en-US" sz="1150" dirty="0">
                <a:solidFill>
                  <a:srgbClr val="16232E"/>
                </a:solidFill>
                <a:latin typeface="Calibri" pitchFamily="34" charset="0"/>
                <a:ea typeface="Calibri" pitchFamily="34" charset="-122"/>
                <a:cs typeface="Calibri" pitchFamily="34" charset="-120"/>
              </a:rPr>
              <a:t>Repo scanned for leaked secret patterns before push</a:t>
            </a:r>
            <a:endParaRPr lang="en-US" sz="1150" dirty="0"/>
          </a:p>
        </p:txBody>
      </p:sp>
      <p:sp>
        <p:nvSpPr>
          <p:cNvPr id="19" name="Text 17"/>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0" name="Text 18"/>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 COLLECTION LAYER</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Vector DaemonSet — Log &amp; Metric Collection</a:t>
            </a:r>
            <a:endParaRPr lang="en-US" sz="3000" dirty="0"/>
          </a:p>
        </p:txBody>
      </p:sp>
      <p:sp>
        <p:nvSpPr>
          <p:cNvPr id="4" name="Text 2"/>
          <p:cNvSpPr/>
          <p:nvPr/>
        </p:nvSpPr>
        <p:spPr>
          <a:xfrm>
            <a:off x="502920" y="1188720"/>
            <a:ext cx="11155680" cy="50292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One Vector pod runs on every EKS node — 4 nodes → 4 Vector pods, each collecting node-local Kubernetes logs plus generating dummy logs/metrics.</a:t>
            </a:r>
            <a:endParaRPr lang="en-US" sz="1300" dirty="0"/>
          </a:p>
        </p:txBody>
      </p:sp>
      <p:sp>
        <p:nvSpPr>
          <p:cNvPr id="5" name="Shape 3"/>
          <p:cNvSpPr/>
          <p:nvPr/>
        </p:nvSpPr>
        <p:spPr>
          <a:xfrm>
            <a:off x="502920" y="1783080"/>
            <a:ext cx="11155680" cy="658368"/>
          </a:xfrm>
          <a:prstGeom prst="roundRect">
            <a:avLst>
              <a:gd name="adj" fmla="val 11111"/>
            </a:avLst>
          </a:prstGeom>
          <a:solidFill>
            <a:srgbClr val="FFFFFF"/>
          </a:solidFill>
          <a:ln w="12700">
            <a:solidFill>
              <a:srgbClr val="D8E3E9"/>
            </a:solidFill>
            <a:prstDash val="solid"/>
          </a:ln>
        </p:spPr>
      </p:sp>
      <p:sp>
        <p:nvSpPr>
          <p:cNvPr id="6" name="Shape 4"/>
          <p:cNvSpPr/>
          <p:nvPr/>
        </p:nvSpPr>
        <p:spPr>
          <a:xfrm>
            <a:off x="685800" y="1883664"/>
            <a:ext cx="457200" cy="457200"/>
          </a:xfrm>
          <a:prstGeom prst="ellipse">
            <a:avLst/>
          </a:prstGeom>
          <a:solidFill>
            <a:srgbClr val="1C7293"/>
          </a:solidFill>
          <a:ln/>
        </p:spPr>
      </p:sp>
      <p:sp>
        <p:nvSpPr>
          <p:cNvPr id="7" name="Text 5"/>
          <p:cNvSpPr/>
          <p:nvPr/>
        </p:nvSpPr>
        <p:spPr>
          <a:xfrm>
            <a:off x="685800" y="1883664"/>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K</a:t>
            </a:r>
            <a:endParaRPr lang="en-US" sz="1500" dirty="0"/>
          </a:p>
        </p:txBody>
      </p:sp>
      <p:sp>
        <p:nvSpPr>
          <p:cNvPr id="8" name="Text 6"/>
          <p:cNvSpPr/>
          <p:nvPr/>
        </p:nvSpPr>
        <p:spPr>
          <a:xfrm>
            <a:off x="1325880" y="1783080"/>
            <a:ext cx="3017520" cy="658368"/>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kubernetes_logs source</a:t>
            </a:r>
            <a:endParaRPr lang="en-US" sz="1250" dirty="0"/>
          </a:p>
        </p:txBody>
      </p:sp>
      <p:sp>
        <p:nvSpPr>
          <p:cNvPr id="9" name="Text 7"/>
          <p:cNvSpPr/>
          <p:nvPr/>
        </p:nvSpPr>
        <p:spPr>
          <a:xfrm>
            <a:off x="4480560" y="1783080"/>
            <a:ext cx="6949440" cy="658368"/>
          </a:xfrm>
          <a:prstGeom prst="rect">
            <a:avLst/>
          </a:prstGeom>
          <a:noFill/>
          <a:ln/>
        </p:spPr>
        <p:txBody>
          <a:bodyPr wrap="square" rtlCol="0" anchor="ctr"/>
          <a:lstStyle/>
          <a:p>
            <a:pPr indent="0" marL="0">
              <a:lnSpc>
                <a:spcPct val="110000"/>
              </a:lnSpc>
              <a:buNone/>
            </a:pPr>
            <a:r>
              <a:rPr lang="en-US" sz="1150" dirty="0">
                <a:solidFill>
                  <a:srgbClr val="5C7080"/>
                </a:solidFill>
                <a:latin typeface="Calibri" pitchFamily="34" charset="0"/>
                <a:ea typeface="Calibri" pitchFamily="34" charset="-122"/>
                <a:cs typeface="Calibri" pitchFamily="34" charset="-120"/>
              </a:rPr>
              <a:t>Collects pod/container logs, enriched with service, namespace, node, log_source metadata</a:t>
            </a:r>
            <a:endParaRPr lang="en-US" sz="1150" dirty="0"/>
          </a:p>
        </p:txBody>
      </p:sp>
      <p:sp>
        <p:nvSpPr>
          <p:cNvPr id="10" name="Shape 8"/>
          <p:cNvSpPr/>
          <p:nvPr/>
        </p:nvSpPr>
        <p:spPr>
          <a:xfrm>
            <a:off x="502920" y="2542032"/>
            <a:ext cx="11155680" cy="658368"/>
          </a:xfrm>
          <a:prstGeom prst="roundRect">
            <a:avLst>
              <a:gd name="adj" fmla="val 11111"/>
            </a:avLst>
          </a:prstGeom>
          <a:solidFill>
            <a:srgbClr val="FFFFFF"/>
          </a:solidFill>
          <a:ln w="12700">
            <a:solidFill>
              <a:srgbClr val="D8E3E9"/>
            </a:solidFill>
            <a:prstDash val="solid"/>
          </a:ln>
        </p:spPr>
      </p:sp>
      <p:sp>
        <p:nvSpPr>
          <p:cNvPr id="11" name="Shape 9"/>
          <p:cNvSpPr/>
          <p:nvPr/>
        </p:nvSpPr>
        <p:spPr>
          <a:xfrm>
            <a:off x="685800" y="2642616"/>
            <a:ext cx="457200" cy="457200"/>
          </a:xfrm>
          <a:prstGeom prst="ellipse">
            <a:avLst/>
          </a:prstGeom>
          <a:solidFill>
            <a:srgbClr val="1C7293"/>
          </a:solidFill>
          <a:ln/>
        </p:spPr>
      </p:sp>
      <p:sp>
        <p:nvSpPr>
          <p:cNvPr id="12" name="Text 10"/>
          <p:cNvSpPr/>
          <p:nvPr/>
        </p:nvSpPr>
        <p:spPr>
          <a:xfrm>
            <a:off x="685800" y="2642616"/>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13" name="Text 11"/>
          <p:cNvSpPr/>
          <p:nvPr/>
        </p:nvSpPr>
        <p:spPr>
          <a:xfrm>
            <a:off x="1325880" y="2542032"/>
            <a:ext cx="3017520" cy="658368"/>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Scoped RBAC</a:t>
            </a:r>
            <a:endParaRPr lang="en-US" sz="1250" dirty="0"/>
          </a:p>
        </p:txBody>
      </p:sp>
      <p:sp>
        <p:nvSpPr>
          <p:cNvPr id="14" name="Text 12"/>
          <p:cNvSpPr/>
          <p:nvPr/>
        </p:nvSpPr>
        <p:spPr>
          <a:xfrm>
            <a:off x="4480560" y="2542032"/>
            <a:ext cx="6949440" cy="658368"/>
          </a:xfrm>
          <a:prstGeom prst="rect">
            <a:avLst/>
          </a:prstGeom>
          <a:noFill/>
          <a:ln/>
        </p:spPr>
        <p:txBody>
          <a:bodyPr wrap="square" rtlCol="0" anchor="ctr"/>
          <a:lstStyle/>
          <a:p>
            <a:pPr indent="0" marL="0">
              <a:lnSpc>
                <a:spcPct val="110000"/>
              </a:lnSpc>
              <a:buNone/>
            </a:pPr>
            <a:r>
              <a:rPr lang="en-US" sz="1150" dirty="0">
                <a:solidFill>
                  <a:srgbClr val="5C7080"/>
                </a:solidFill>
                <a:latin typeface="Calibri" pitchFamily="34" charset="0"/>
                <a:ea typeface="Calibri" pitchFamily="34" charset="-122"/>
                <a:cs typeface="Calibri" pitchFamily="34" charset="-120"/>
              </a:rPr>
              <a:t>Dedicated 'vector' ServiceAccount + ClusterRole limited to get/list/watch on pods, namespaces, nodes</a:t>
            </a:r>
            <a:endParaRPr lang="en-US" sz="1150" dirty="0"/>
          </a:p>
        </p:txBody>
      </p:sp>
      <p:sp>
        <p:nvSpPr>
          <p:cNvPr id="15" name="Shape 13"/>
          <p:cNvSpPr/>
          <p:nvPr/>
        </p:nvSpPr>
        <p:spPr>
          <a:xfrm>
            <a:off x="502920" y="3300984"/>
            <a:ext cx="11155680" cy="658368"/>
          </a:xfrm>
          <a:prstGeom prst="roundRect">
            <a:avLst>
              <a:gd name="adj" fmla="val 11111"/>
            </a:avLst>
          </a:prstGeom>
          <a:solidFill>
            <a:srgbClr val="FFFFFF"/>
          </a:solidFill>
          <a:ln w="12700">
            <a:solidFill>
              <a:srgbClr val="D8E3E9"/>
            </a:solidFill>
            <a:prstDash val="solid"/>
          </a:ln>
        </p:spPr>
      </p:sp>
      <p:sp>
        <p:nvSpPr>
          <p:cNvPr id="16" name="Shape 14"/>
          <p:cNvSpPr/>
          <p:nvPr/>
        </p:nvSpPr>
        <p:spPr>
          <a:xfrm>
            <a:off x="685800" y="3401568"/>
            <a:ext cx="457200" cy="457200"/>
          </a:xfrm>
          <a:prstGeom prst="ellipse">
            <a:avLst/>
          </a:prstGeom>
          <a:solidFill>
            <a:srgbClr val="1C7293"/>
          </a:solidFill>
          <a:ln/>
        </p:spPr>
      </p:sp>
      <p:sp>
        <p:nvSpPr>
          <p:cNvPr id="17" name="Text 15"/>
          <p:cNvSpPr/>
          <p:nvPr/>
        </p:nvSpPr>
        <p:spPr>
          <a:xfrm>
            <a:off x="685800" y="3401568"/>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8" name="Text 16"/>
          <p:cNvSpPr/>
          <p:nvPr/>
        </p:nvSpPr>
        <p:spPr>
          <a:xfrm>
            <a:off x="1325880" y="3300984"/>
            <a:ext cx="3017520" cy="658368"/>
          </a:xfrm>
          <a:prstGeom prst="rect">
            <a:avLst/>
          </a:prstGeom>
          <a:noFill/>
          <a:ln/>
        </p:spPr>
        <p:txBody>
          <a:bodyPr wrap="square" rtlCol="0" anchor="ctr"/>
          <a:lstStyle/>
          <a:p>
            <a:pPr indent="0" marL="0">
              <a:buNone/>
            </a:pPr>
            <a:r>
              <a:rPr lang="en-US" sz="1250" b="1" dirty="0">
                <a:solidFill>
                  <a:srgbClr val="16232E"/>
                </a:solidFill>
                <a:latin typeface="Calibri" pitchFamily="34" charset="0"/>
                <a:ea typeface="Calibri" pitchFamily="34" charset="-122"/>
                <a:cs typeface="Calibri" pitchFamily="34" charset="-120"/>
              </a:rPr>
              <a:t>demo_logs source</a:t>
            </a:r>
            <a:endParaRPr lang="en-US" sz="1250" dirty="0"/>
          </a:p>
        </p:txBody>
      </p:sp>
      <p:sp>
        <p:nvSpPr>
          <p:cNvPr id="19" name="Text 17"/>
          <p:cNvSpPr/>
          <p:nvPr/>
        </p:nvSpPr>
        <p:spPr>
          <a:xfrm>
            <a:off x="4480560" y="3300984"/>
            <a:ext cx="6949440" cy="658368"/>
          </a:xfrm>
          <a:prstGeom prst="rect">
            <a:avLst/>
          </a:prstGeom>
          <a:noFill/>
          <a:ln/>
        </p:spPr>
        <p:txBody>
          <a:bodyPr wrap="square" rtlCol="0" anchor="ctr"/>
          <a:lstStyle/>
          <a:p>
            <a:pPr indent="0" marL="0">
              <a:lnSpc>
                <a:spcPct val="110000"/>
              </a:lnSpc>
              <a:buNone/>
            </a:pPr>
            <a:r>
              <a:rPr lang="en-US" sz="1150" dirty="0">
                <a:solidFill>
                  <a:srgbClr val="5C7080"/>
                </a:solidFill>
                <a:latin typeface="Calibri" pitchFamily="34" charset="0"/>
                <a:ea typeface="Calibri" pitchFamily="34" charset="-122"/>
                <a:cs typeface="Calibri" pitchFamily="34" charset="-120"/>
              </a:rPr>
              <a:t>Generates dummy JSON logs — 1 event/sec per pod, ~4 events/sec across the DaemonSet</a:t>
            </a:r>
            <a:endParaRPr lang="en-US" sz="1150" dirty="0"/>
          </a:p>
        </p:txBody>
      </p:sp>
      <p:sp>
        <p:nvSpPr>
          <p:cNvPr id="20" name="Shape 18"/>
          <p:cNvSpPr/>
          <p:nvPr/>
        </p:nvSpPr>
        <p:spPr>
          <a:xfrm>
            <a:off x="502920" y="4151376"/>
            <a:ext cx="11155680" cy="2103120"/>
          </a:xfrm>
          <a:prstGeom prst="roundRect">
            <a:avLst>
              <a:gd name="adj" fmla="val 3478"/>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21" name="Shape 19"/>
          <p:cNvSpPr/>
          <p:nvPr/>
        </p:nvSpPr>
        <p:spPr>
          <a:xfrm>
            <a:off x="704088" y="4315968"/>
            <a:ext cx="978408" cy="292608"/>
          </a:xfrm>
          <a:prstGeom prst="roundRect">
            <a:avLst>
              <a:gd name="adj" fmla="val 18750"/>
            </a:avLst>
          </a:prstGeom>
          <a:solidFill>
            <a:srgbClr val="C1543A"/>
          </a:solidFill>
          <a:ln/>
        </p:spPr>
      </p:sp>
      <p:sp>
        <p:nvSpPr>
          <p:cNvPr id="22" name="Text 20"/>
          <p:cNvSpPr/>
          <p:nvPr/>
        </p:nvSpPr>
        <p:spPr>
          <a:xfrm>
            <a:off x="704088" y="4311396"/>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23" name="Text 21"/>
          <p:cNvSpPr/>
          <p:nvPr/>
        </p:nvSpPr>
        <p:spPr>
          <a:xfrm>
            <a:off x="704088" y="4645152"/>
            <a:ext cx="10753344" cy="546811"/>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Vector runs in the same namespace as OpenObserve and collects Kubernetes logs cluster-wide. Left unchecked, it would scrape OpenObserve's own pod logs and re-ingest them — a self-referential feedback loop.</a:t>
            </a:r>
            <a:endParaRPr lang="en-US" sz="1250" dirty="0"/>
          </a:p>
        </p:txBody>
      </p:sp>
      <p:sp>
        <p:nvSpPr>
          <p:cNvPr id="24" name="Shape 22"/>
          <p:cNvSpPr/>
          <p:nvPr/>
        </p:nvSpPr>
        <p:spPr>
          <a:xfrm>
            <a:off x="704088" y="5246827"/>
            <a:ext cx="576072" cy="292608"/>
          </a:xfrm>
          <a:prstGeom prst="roundRect">
            <a:avLst>
              <a:gd name="adj" fmla="val 18750"/>
            </a:avLst>
          </a:prstGeom>
          <a:solidFill>
            <a:srgbClr val="1C7293"/>
          </a:solidFill>
          <a:ln/>
        </p:spPr>
      </p:sp>
      <p:sp>
        <p:nvSpPr>
          <p:cNvPr id="25" name="Text 23"/>
          <p:cNvSpPr/>
          <p:nvPr/>
        </p:nvSpPr>
        <p:spPr>
          <a:xfrm>
            <a:off x="704088" y="5242255"/>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26" name="Text 24"/>
          <p:cNvSpPr/>
          <p:nvPr/>
        </p:nvSpPr>
        <p:spPr>
          <a:xfrm>
            <a:off x="704088" y="5594299"/>
            <a:ext cx="10753344" cy="641909"/>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Labeled the openobserve namespace with vector.dev/exclude=true, telling Vector's Kubernetes log source to skip that namespace entirely — cleanly breaking the loop before it could start.</a:t>
            </a:r>
            <a:endParaRPr lang="en-US" sz="1250" dirty="0"/>
          </a:p>
        </p:txBody>
      </p:sp>
      <p:sp>
        <p:nvSpPr>
          <p:cNvPr id="27" name="Text 25"/>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8" name="Text 26"/>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OBSERVABILITY BACKEND</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OpenObserve Deployment</a:t>
            </a:r>
            <a:endParaRPr lang="en-US" sz="3000" dirty="0"/>
          </a:p>
        </p:txBody>
      </p:sp>
      <p:sp>
        <p:nvSpPr>
          <p:cNvPr id="4" name="Text 2"/>
          <p:cNvSpPr/>
          <p:nvPr/>
        </p:nvSpPr>
        <p:spPr>
          <a:xfrm>
            <a:off x="502920" y="1280160"/>
            <a:ext cx="5623560" cy="3840480"/>
          </a:xfrm>
          <a:prstGeom prst="rect">
            <a:avLst/>
          </a:prstGeom>
          <a:noFill/>
          <a:ln/>
        </p:spPr>
        <p:txBody>
          <a:bodyPr wrap="square" rtlCol="0" anchor="t"/>
          <a:lstStyle/>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Deployed inside the cluster (not OpenObserve Cloud) — dedicated 'openobserve' namespace</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Installed via Helm from the mshade-openobserve chart repository</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Exposed internally only, at openobserve.openobserve.svc.cluster.local:80</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Accessed locally for development via kubectl port-forward → http://localhost:5080</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Root credentials pulled from a generated Kubernetes Secret and re-injected into Vector via secretKeyRef — never hardcoded</a:t>
            </a:r>
            <a:endParaRPr lang="en-US" sz="1300" dirty="0"/>
          </a:p>
        </p:txBody>
      </p:sp>
      <p:sp>
        <p:nvSpPr>
          <p:cNvPr id="5" name="Shape 3"/>
          <p:cNvSpPr/>
          <p:nvPr/>
        </p:nvSpPr>
        <p:spPr>
          <a:xfrm>
            <a:off x="6355080" y="1280160"/>
            <a:ext cx="5303520" cy="2743200"/>
          </a:xfrm>
          <a:prstGeom prst="roundRect">
            <a:avLst>
              <a:gd name="adj" fmla="val 2667"/>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6" name="Shape 4"/>
          <p:cNvSpPr/>
          <p:nvPr/>
        </p:nvSpPr>
        <p:spPr>
          <a:xfrm>
            <a:off x="6556248" y="1444752"/>
            <a:ext cx="978408" cy="292608"/>
          </a:xfrm>
          <a:prstGeom prst="roundRect">
            <a:avLst>
              <a:gd name="adj" fmla="val 18750"/>
            </a:avLst>
          </a:prstGeom>
          <a:solidFill>
            <a:srgbClr val="C1543A"/>
          </a:solidFill>
          <a:ln/>
        </p:spPr>
      </p:sp>
      <p:sp>
        <p:nvSpPr>
          <p:cNvPr id="7" name="Text 5"/>
          <p:cNvSpPr/>
          <p:nvPr/>
        </p:nvSpPr>
        <p:spPr>
          <a:xfrm>
            <a:off x="6556248" y="14401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8" name="Text 6"/>
          <p:cNvSpPr/>
          <p:nvPr/>
        </p:nvSpPr>
        <p:spPr>
          <a:xfrm>
            <a:off x="6556248" y="1773936"/>
            <a:ext cx="4901184" cy="841248"/>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Installing the OpenObserve chart directly from the Helm repository repeatedly timed out while downloading — the install command never completed.</a:t>
            </a:r>
            <a:endParaRPr lang="en-US" sz="1250" dirty="0"/>
          </a:p>
        </p:txBody>
      </p:sp>
      <p:sp>
        <p:nvSpPr>
          <p:cNvPr id="9" name="Shape 7"/>
          <p:cNvSpPr/>
          <p:nvPr/>
        </p:nvSpPr>
        <p:spPr>
          <a:xfrm>
            <a:off x="6556248" y="2670048"/>
            <a:ext cx="576072" cy="292608"/>
          </a:xfrm>
          <a:prstGeom prst="roundRect">
            <a:avLst>
              <a:gd name="adj" fmla="val 18750"/>
            </a:avLst>
          </a:prstGeom>
          <a:solidFill>
            <a:srgbClr val="1C7293"/>
          </a:solidFill>
          <a:ln/>
        </p:spPr>
      </p:sp>
      <p:sp>
        <p:nvSpPr>
          <p:cNvPr id="10" name="Text 8"/>
          <p:cNvSpPr/>
          <p:nvPr/>
        </p:nvSpPr>
        <p:spPr>
          <a:xfrm>
            <a:off x="6556248" y="2665476"/>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11" name="Text 9"/>
          <p:cNvSpPr/>
          <p:nvPr/>
        </p:nvSpPr>
        <p:spPr>
          <a:xfrm>
            <a:off x="6556248" y="3017520"/>
            <a:ext cx="4901184" cy="987552"/>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Downloaded the chart locally instead: 'helm pull mshade-openobserve/openobserve' (→ openobserve-0.1.10.tgz), then 'helm install openobserve ./openobserve-0.1.10.tgz --namespace openobserve' — install succeeded with STATUS: deployed.</a:t>
            </a:r>
            <a:endParaRPr lang="en-US" sz="1250" dirty="0"/>
          </a:p>
        </p:txBody>
      </p:sp>
      <p:sp>
        <p:nvSpPr>
          <p:cNvPr id="12" name="Shape 10"/>
          <p:cNvSpPr/>
          <p:nvPr/>
        </p:nvSpPr>
        <p:spPr>
          <a:xfrm>
            <a:off x="6355080" y="4206240"/>
            <a:ext cx="5303520" cy="1417320"/>
          </a:xfrm>
          <a:prstGeom prst="roundRect">
            <a:avLst>
              <a:gd name="adj" fmla="val 5161"/>
            </a:avLst>
          </a:prstGeom>
          <a:solidFill>
            <a:srgbClr val="0B3245"/>
          </a:solidFill>
          <a:ln/>
        </p:spPr>
      </p:sp>
      <p:sp>
        <p:nvSpPr>
          <p:cNvPr id="13" name="Text 11"/>
          <p:cNvSpPr/>
          <p:nvPr/>
        </p:nvSpPr>
        <p:spPr>
          <a:xfrm>
            <a:off x="6629400" y="4343400"/>
            <a:ext cx="475488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Why not just expose it publicly?</a:t>
            </a:r>
            <a:endParaRPr lang="en-US" sz="1300" dirty="0"/>
          </a:p>
        </p:txBody>
      </p:sp>
      <p:sp>
        <p:nvSpPr>
          <p:cNvPr id="14" name="Text 12"/>
          <p:cNvSpPr/>
          <p:nvPr/>
        </p:nvSpPr>
        <p:spPr>
          <a:xfrm>
            <a:off x="6629400" y="4636008"/>
            <a:ext cx="4754880" cy="914400"/>
          </a:xfrm>
          <a:prstGeom prst="rect">
            <a:avLst/>
          </a:prstGeom>
          <a:noFill/>
          <a:ln/>
        </p:spPr>
        <p:txBody>
          <a:bodyPr wrap="square" rtlCol="0" anchor="ctr"/>
          <a:lstStyle/>
          <a:p>
            <a:pPr indent="0" marL="0">
              <a:lnSpc>
                <a:spcPct val="120000"/>
              </a:lnSpc>
              <a:buNone/>
            </a:pPr>
            <a:r>
              <a:rPr lang="en-US" sz="1100" dirty="0">
                <a:solidFill>
                  <a:srgbClr val="D6E5EA"/>
                </a:solidFill>
                <a:latin typeface="Calibri" pitchFamily="34" charset="0"/>
                <a:ea typeface="Calibri" pitchFamily="34" charset="-122"/>
                <a:cs typeface="Calibri" pitchFamily="34" charset="-120"/>
              </a:rPr>
              <a:t>Keeping the OpenObserve UI reachable only via internal cluster DNS + port-forward avoids exposing an observability platform (and its data) directly to the internet.</a:t>
            </a:r>
            <a:endParaRPr lang="en-US" sz="1100" dirty="0"/>
          </a:p>
        </p:txBody>
      </p:sp>
      <p:sp>
        <p:nvSpPr>
          <p:cNvPr id="15" name="Text 13"/>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16" name="Text 14"/>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VECTOR VRL TRANSFORMATIONS</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Log Processing Pipeline</a:t>
            </a:r>
            <a:endParaRPr lang="en-US" sz="3000" dirty="0"/>
          </a:p>
        </p:txBody>
      </p:sp>
      <p:sp>
        <p:nvSpPr>
          <p:cNvPr id="4" name="Text 2"/>
          <p:cNvSpPr/>
          <p:nvPr/>
        </p:nvSpPr>
        <p:spPr>
          <a:xfrm>
            <a:off x="502920" y="1188720"/>
            <a:ext cx="11155680" cy="45720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Dummy logs carry an HTTP-style status code in JSON. Vector Remap Language (VRL) parses and classifies each event before it reaches OpenObserve.</a:t>
            </a:r>
            <a:endParaRPr lang="en-US" sz="1300" dirty="0"/>
          </a:p>
        </p:txBody>
      </p:sp>
      <p:sp>
        <p:nvSpPr>
          <p:cNvPr id="5" name="Shape 3"/>
          <p:cNvSpPr/>
          <p:nvPr/>
        </p:nvSpPr>
        <p:spPr>
          <a:xfrm>
            <a:off x="502920" y="1874520"/>
            <a:ext cx="3611880" cy="1417320"/>
          </a:xfrm>
          <a:prstGeom prst="roundRect">
            <a:avLst>
              <a:gd name="adj" fmla="val 5161"/>
            </a:avLst>
          </a:prstGeom>
          <a:solidFill>
            <a:srgbClr val="FFFFFF"/>
          </a:solidFill>
          <a:ln w="12700">
            <a:solidFill>
              <a:srgbClr val="D8E3E9"/>
            </a:solidFill>
            <a:prstDash val="solid"/>
          </a:ln>
        </p:spPr>
      </p:sp>
      <p:sp>
        <p:nvSpPr>
          <p:cNvPr id="6" name="Shape 4"/>
          <p:cNvSpPr/>
          <p:nvPr/>
        </p:nvSpPr>
        <p:spPr>
          <a:xfrm>
            <a:off x="704088" y="2057400"/>
            <a:ext cx="457200" cy="457200"/>
          </a:xfrm>
          <a:prstGeom prst="ellipse">
            <a:avLst/>
          </a:prstGeom>
          <a:solidFill>
            <a:srgbClr val="1C7293"/>
          </a:solidFill>
          <a:ln/>
        </p:spPr>
      </p:sp>
      <p:sp>
        <p:nvSpPr>
          <p:cNvPr id="7" name="Text 5"/>
          <p:cNvSpPr/>
          <p:nvPr/>
        </p:nvSpPr>
        <p:spPr>
          <a:xfrm>
            <a:off x="704088" y="20574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704088" y="2606040"/>
            <a:ext cx="3209544" cy="320040"/>
          </a:xfrm>
          <a:prstGeom prst="rect">
            <a:avLst/>
          </a:prstGeom>
          <a:noFill/>
          <a:ln/>
        </p:spPr>
        <p:txBody>
          <a:bodyPr wrap="square" rtlCol="0" anchor="ctr"/>
          <a:lstStyle/>
          <a:p>
            <a:pPr indent="0" marL="0">
              <a:buNone/>
            </a:pPr>
            <a:r>
              <a:rPr lang="en-US" sz="1150" b="1" dirty="0">
                <a:solidFill>
                  <a:srgbClr val="0B3245"/>
                </a:solidFill>
                <a:latin typeface="Consolas" pitchFamily="34" charset="0"/>
                <a:ea typeface="Consolas" pitchFamily="34" charset="-122"/>
                <a:cs typeface="Consolas" pitchFamily="34" charset="-120"/>
              </a:rPr>
              <a:t>parse_json!(.message)</a:t>
            </a:r>
            <a:endParaRPr lang="en-US" sz="1150" dirty="0"/>
          </a:p>
        </p:txBody>
      </p:sp>
      <p:sp>
        <p:nvSpPr>
          <p:cNvPr id="9" name="Text 7"/>
          <p:cNvSpPr/>
          <p:nvPr/>
        </p:nvSpPr>
        <p:spPr>
          <a:xfrm>
            <a:off x="704088" y="2926080"/>
            <a:ext cx="3209544" cy="32004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Parse the JSON log body into structured fields</a:t>
            </a:r>
            <a:endParaRPr lang="en-US" sz="1100" dirty="0"/>
          </a:p>
        </p:txBody>
      </p:sp>
      <p:sp>
        <p:nvSpPr>
          <p:cNvPr id="10" name="Shape 8"/>
          <p:cNvSpPr/>
          <p:nvPr/>
        </p:nvSpPr>
        <p:spPr>
          <a:xfrm>
            <a:off x="4142232" y="2468880"/>
            <a:ext cx="219456" cy="228600"/>
          </a:xfrm>
          <a:prstGeom prst="rightArrow">
            <a:avLst/>
          </a:prstGeom>
          <a:solidFill>
            <a:srgbClr val="5C7080"/>
          </a:solidFill>
          <a:ln/>
        </p:spPr>
      </p:sp>
      <p:sp>
        <p:nvSpPr>
          <p:cNvPr id="11" name="Shape 9"/>
          <p:cNvSpPr/>
          <p:nvPr/>
        </p:nvSpPr>
        <p:spPr>
          <a:xfrm>
            <a:off x="4389120" y="1874520"/>
            <a:ext cx="3611880" cy="1417320"/>
          </a:xfrm>
          <a:prstGeom prst="roundRect">
            <a:avLst>
              <a:gd name="adj" fmla="val 5161"/>
            </a:avLst>
          </a:prstGeom>
          <a:solidFill>
            <a:srgbClr val="FFFFFF"/>
          </a:solidFill>
          <a:ln w="12700">
            <a:solidFill>
              <a:srgbClr val="D8E3E9"/>
            </a:solidFill>
            <a:prstDash val="solid"/>
          </a:ln>
        </p:spPr>
      </p:sp>
      <p:sp>
        <p:nvSpPr>
          <p:cNvPr id="12" name="Shape 10"/>
          <p:cNvSpPr/>
          <p:nvPr/>
        </p:nvSpPr>
        <p:spPr>
          <a:xfrm>
            <a:off x="4590288" y="2057400"/>
            <a:ext cx="457200" cy="457200"/>
          </a:xfrm>
          <a:prstGeom prst="ellipse">
            <a:avLst/>
          </a:prstGeom>
          <a:solidFill>
            <a:srgbClr val="1C7293"/>
          </a:solidFill>
          <a:ln/>
        </p:spPr>
      </p:sp>
      <p:sp>
        <p:nvSpPr>
          <p:cNvPr id="13" name="Text 11"/>
          <p:cNvSpPr/>
          <p:nvPr/>
        </p:nvSpPr>
        <p:spPr>
          <a:xfrm>
            <a:off x="4590288" y="20574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4590288" y="2606040"/>
            <a:ext cx="3209544" cy="320040"/>
          </a:xfrm>
          <a:prstGeom prst="rect">
            <a:avLst/>
          </a:prstGeom>
          <a:noFill/>
          <a:ln/>
        </p:spPr>
        <p:txBody>
          <a:bodyPr wrap="square" rtlCol="0" anchor="ctr"/>
          <a:lstStyle/>
          <a:p>
            <a:pPr indent="0" marL="0">
              <a:buNone/>
            </a:pPr>
            <a:r>
              <a:rPr lang="en-US" sz="1150" b="1" dirty="0">
                <a:solidFill>
                  <a:srgbClr val="0B3245"/>
                </a:solidFill>
                <a:latin typeface="Consolas" pitchFamily="34" charset="0"/>
                <a:ea typeface="Consolas" pitchFamily="34" charset="-122"/>
                <a:cs typeface="Consolas" pitchFamily="34" charset="-120"/>
              </a:rPr>
              <a:t>to_int!(.parsed.status)</a:t>
            </a:r>
            <a:endParaRPr lang="en-US" sz="1150" dirty="0"/>
          </a:p>
        </p:txBody>
      </p:sp>
      <p:sp>
        <p:nvSpPr>
          <p:cNvPr id="15" name="Text 13"/>
          <p:cNvSpPr/>
          <p:nvPr/>
        </p:nvSpPr>
        <p:spPr>
          <a:xfrm>
            <a:off x="4590288" y="2926080"/>
            <a:ext cx="3209544" cy="32004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Convert the status field to an integer</a:t>
            </a:r>
            <a:endParaRPr lang="en-US" sz="1100" dirty="0"/>
          </a:p>
        </p:txBody>
      </p:sp>
      <p:sp>
        <p:nvSpPr>
          <p:cNvPr id="16" name="Shape 14"/>
          <p:cNvSpPr/>
          <p:nvPr/>
        </p:nvSpPr>
        <p:spPr>
          <a:xfrm>
            <a:off x="8028432" y="2468880"/>
            <a:ext cx="219456" cy="228600"/>
          </a:xfrm>
          <a:prstGeom prst="rightArrow">
            <a:avLst/>
          </a:prstGeom>
          <a:solidFill>
            <a:srgbClr val="5C7080"/>
          </a:solidFill>
          <a:ln/>
        </p:spPr>
      </p:sp>
      <p:sp>
        <p:nvSpPr>
          <p:cNvPr id="17" name="Shape 15"/>
          <p:cNvSpPr/>
          <p:nvPr/>
        </p:nvSpPr>
        <p:spPr>
          <a:xfrm>
            <a:off x="8275320" y="1874520"/>
            <a:ext cx="3611880" cy="1417320"/>
          </a:xfrm>
          <a:prstGeom prst="roundRect">
            <a:avLst>
              <a:gd name="adj" fmla="val 5161"/>
            </a:avLst>
          </a:prstGeom>
          <a:solidFill>
            <a:srgbClr val="FFFFFF"/>
          </a:solidFill>
          <a:ln w="12700">
            <a:solidFill>
              <a:srgbClr val="D8E3E9"/>
            </a:solidFill>
            <a:prstDash val="solid"/>
          </a:ln>
        </p:spPr>
      </p:sp>
      <p:sp>
        <p:nvSpPr>
          <p:cNvPr id="18" name="Shape 16"/>
          <p:cNvSpPr/>
          <p:nvPr/>
        </p:nvSpPr>
        <p:spPr>
          <a:xfrm>
            <a:off x="8476488" y="2057400"/>
            <a:ext cx="457200" cy="457200"/>
          </a:xfrm>
          <a:prstGeom prst="ellipse">
            <a:avLst/>
          </a:prstGeom>
          <a:solidFill>
            <a:srgbClr val="1C7293"/>
          </a:solidFill>
          <a:ln/>
        </p:spPr>
      </p:sp>
      <p:sp>
        <p:nvSpPr>
          <p:cNvPr id="19" name="Text 17"/>
          <p:cNvSpPr/>
          <p:nvPr/>
        </p:nvSpPr>
        <p:spPr>
          <a:xfrm>
            <a:off x="8476488" y="205740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8476488" y="2606040"/>
            <a:ext cx="3209544" cy="320040"/>
          </a:xfrm>
          <a:prstGeom prst="rect">
            <a:avLst/>
          </a:prstGeom>
          <a:noFill/>
          <a:ln/>
        </p:spPr>
        <p:txBody>
          <a:bodyPr wrap="square" rtlCol="0" anchor="ctr"/>
          <a:lstStyle/>
          <a:p>
            <a:pPr indent="0" marL="0">
              <a:buNone/>
            </a:pPr>
            <a:r>
              <a:rPr lang="en-US" sz="1150" b="1" dirty="0">
                <a:solidFill>
                  <a:srgbClr val="0B3245"/>
                </a:solidFill>
                <a:latin typeface="Consolas" pitchFamily="34" charset="0"/>
                <a:ea typeface="Consolas" pitchFamily="34" charset="-122"/>
                <a:cs typeface="Consolas" pitchFamily="34" charset="-120"/>
              </a:rPr>
              <a:t>Classify by threshold</a:t>
            </a:r>
            <a:endParaRPr lang="en-US" sz="1150" dirty="0"/>
          </a:p>
        </p:txBody>
      </p:sp>
      <p:sp>
        <p:nvSpPr>
          <p:cNvPr id="21" name="Text 19"/>
          <p:cNvSpPr/>
          <p:nvPr/>
        </p:nvSpPr>
        <p:spPr>
          <a:xfrm>
            <a:off x="8476488" y="2926080"/>
            <a:ext cx="3209544" cy="32004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status ≥ 500 → error · ≥ 400 → warn · else → info</a:t>
            </a:r>
            <a:endParaRPr lang="en-US" sz="1100" dirty="0"/>
          </a:p>
        </p:txBody>
      </p:sp>
      <p:sp>
        <p:nvSpPr>
          <p:cNvPr id="22" name="Text 20"/>
          <p:cNvSpPr/>
          <p:nvPr/>
        </p:nvSpPr>
        <p:spPr>
          <a:xfrm>
            <a:off x="502920" y="3566160"/>
            <a:ext cx="2743200" cy="274320"/>
          </a:xfrm>
          <a:prstGeom prst="rect">
            <a:avLst/>
          </a:prstGeom>
          <a:noFill/>
          <a:ln/>
        </p:spPr>
        <p:txBody>
          <a:bodyPr wrap="square" rtlCol="0" anchor="ctr"/>
          <a:lstStyle/>
          <a:p>
            <a:pPr indent="0" marL="0">
              <a:buNone/>
            </a:pPr>
            <a:r>
              <a:rPr lang="en-US" sz="1350" b="1" dirty="0">
                <a:solidFill>
                  <a:srgbClr val="0B3245"/>
                </a:solidFill>
                <a:latin typeface="Cambria" pitchFamily="34" charset="0"/>
                <a:ea typeface="Cambria" pitchFamily="34" charset="-122"/>
                <a:cs typeface="Cambria" pitchFamily="34" charset="-120"/>
              </a:rPr>
              <a:t>Examples</a:t>
            </a:r>
            <a:endParaRPr lang="en-US" sz="1350" dirty="0"/>
          </a:p>
        </p:txBody>
      </p:sp>
      <p:sp>
        <p:nvSpPr>
          <p:cNvPr id="23" name="Shape 21"/>
          <p:cNvSpPr/>
          <p:nvPr/>
        </p:nvSpPr>
        <p:spPr>
          <a:xfrm>
            <a:off x="502920" y="3931920"/>
            <a:ext cx="1554480" cy="685800"/>
          </a:xfrm>
          <a:prstGeom prst="roundRect">
            <a:avLst>
              <a:gd name="adj" fmla="val 10667"/>
            </a:avLst>
          </a:prstGeom>
          <a:solidFill>
            <a:srgbClr val="EAF1F4"/>
          </a:solidFill>
          <a:ln/>
        </p:spPr>
      </p:sp>
      <p:sp>
        <p:nvSpPr>
          <p:cNvPr id="24" name="Text 22"/>
          <p:cNvSpPr/>
          <p:nvPr/>
        </p:nvSpPr>
        <p:spPr>
          <a:xfrm>
            <a:off x="502920" y="3931920"/>
            <a:ext cx="1554480" cy="685800"/>
          </a:xfrm>
          <a:prstGeom prst="rect">
            <a:avLst/>
          </a:prstGeom>
          <a:noFill/>
          <a:ln/>
        </p:spPr>
        <p:txBody>
          <a:bodyPr wrap="square" rtlCol="0" anchor="ctr"/>
          <a:lstStyle/>
          <a:p>
            <a:pPr algn="ctr" indent="0" marL="0">
              <a:buNone/>
            </a:pPr>
            <a:r>
              <a:rPr lang="en-US" sz="1300" b="1" dirty="0">
                <a:solidFill>
                  <a:srgbClr val="0B3245"/>
                </a:solidFill>
                <a:latin typeface="Consolas" pitchFamily="34" charset="0"/>
                <a:ea typeface="Consolas" pitchFamily="34" charset="-122"/>
                <a:cs typeface="Consolas" pitchFamily="34" charset="-120"/>
              </a:rPr>
              <a:t>403 → warn</a:t>
            </a:r>
            <a:endParaRPr lang="en-US" sz="1300" dirty="0"/>
          </a:p>
        </p:txBody>
      </p:sp>
      <p:sp>
        <p:nvSpPr>
          <p:cNvPr id="25" name="Shape 23"/>
          <p:cNvSpPr/>
          <p:nvPr/>
        </p:nvSpPr>
        <p:spPr>
          <a:xfrm>
            <a:off x="2240280" y="3931920"/>
            <a:ext cx="1554480" cy="685800"/>
          </a:xfrm>
          <a:prstGeom prst="roundRect">
            <a:avLst>
              <a:gd name="adj" fmla="val 10667"/>
            </a:avLst>
          </a:prstGeom>
          <a:solidFill>
            <a:srgbClr val="EAF1F4"/>
          </a:solidFill>
          <a:ln/>
        </p:spPr>
      </p:sp>
      <p:sp>
        <p:nvSpPr>
          <p:cNvPr id="26" name="Text 24"/>
          <p:cNvSpPr/>
          <p:nvPr/>
        </p:nvSpPr>
        <p:spPr>
          <a:xfrm>
            <a:off x="2240280" y="3931920"/>
            <a:ext cx="1554480" cy="685800"/>
          </a:xfrm>
          <a:prstGeom prst="rect">
            <a:avLst/>
          </a:prstGeom>
          <a:noFill/>
          <a:ln/>
        </p:spPr>
        <p:txBody>
          <a:bodyPr wrap="square" rtlCol="0" anchor="ctr"/>
          <a:lstStyle/>
          <a:p>
            <a:pPr algn="ctr" indent="0" marL="0">
              <a:buNone/>
            </a:pPr>
            <a:r>
              <a:rPr lang="en-US" sz="1300" b="1" dirty="0">
                <a:solidFill>
                  <a:srgbClr val="0B3245"/>
                </a:solidFill>
                <a:latin typeface="Consolas" pitchFamily="34" charset="0"/>
                <a:ea typeface="Consolas" pitchFamily="34" charset="-122"/>
                <a:cs typeface="Consolas" pitchFamily="34" charset="-120"/>
              </a:rPr>
              <a:t>410 → warn</a:t>
            </a:r>
            <a:endParaRPr lang="en-US" sz="1300" dirty="0"/>
          </a:p>
        </p:txBody>
      </p:sp>
      <p:sp>
        <p:nvSpPr>
          <p:cNvPr id="27" name="Shape 25"/>
          <p:cNvSpPr/>
          <p:nvPr/>
        </p:nvSpPr>
        <p:spPr>
          <a:xfrm>
            <a:off x="3977640" y="3931920"/>
            <a:ext cx="1554480" cy="685800"/>
          </a:xfrm>
          <a:prstGeom prst="roundRect">
            <a:avLst>
              <a:gd name="adj" fmla="val 10667"/>
            </a:avLst>
          </a:prstGeom>
          <a:solidFill>
            <a:srgbClr val="EAF1F4"/>
          </a:solidFill>
          <a:ln/>
        </p:spPr>
      </p:sp>
      <p:sp>
        <p:nvSpPr>
          <p:cNvPr id="28" name="Text 26"/>
          <p:cNvSpPr/>
          <p:nvPr/>
        </p:nvSpPr>
        <p:spPr>
          <a:xfrm>
            <a:off x="3977640" y="3931920"/>
            <a:ext cx="1554480" cy="685800"/>
          </a:xfrm>
          <a:prstGeom prst="rect">
            <a:avLst/>
          </a:prstGeom>
          <a:noFill/>
          <a:ln/>
        </p:spPr>
        <p:txBody>
          <a:bodyPr wrap="square" rtlCol="0" anchor="ctr"/>
          <a:lstStyle/>
          <a:p>
            <a:pPr algn="ctr" indent="0" marL="0">
              <a:buNone/>
            </a:pPr>
            <a:r>
              <a:rPr lang="en-US" sz="1300" b="1" dirty="0">
                <a:solidFill>
                  <a:srgbClr val="0B3245"/>
                </a:solidFill>
                <a:latin typeface="Consolas" pitchFamily="34" charset="0"/>
                <a:ea typeface="Consolas" pitchFamily="34" charset="-122"/>
                <a:cs typeface="Consolas" pitchFamily="34" charset="-120"/>
              </a:rPr>
              <a:t>550 → error</a:t>
            </a:r>
            <a:endParaRPr lang="en-US" sz="1300" dirty="0"/>
          </a:p>
        </p:txBody>
      </p:sp>
      <p:sp>
        <p:nvSpPr>
          <p:cNvPr id="29" name="Shape 27"/>
          <p:cNvSpPr/>
          <p:nvPr/>
        </p:nvSpPr>
        <p:spPr>
          <a:xfrm>
            <a:off x="6675120" y="3566160"/>
            <a:ext cx="4983480" cy="2148840"/>
          </a:xfrm>
          <a:prstGeom prst="roundRect">
            <a:avLst>
              <a:gd name="adj" fmla="val 3404"/>
            </a:avLst>
          </a:prstGeom>
          <a:solidFill>
            <a:srgbClr val="0B3245"/>
          </a:solidFill>
          <a:ln/>
        </p:spPr>
      </p:sp>
      <p:sp>
        <p:nvSpPr>
          <p:cNvPr id="30" name="Text 28"/>
          <p:cNvSpPr/>
          <p:nvPr/>
        </p:nvSpPr>
        <p:spPr>
          <a:xfrm>
            <a:off x="6949440" y="3749040"/>
            <a:ext cx="4480560" cy="2743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Enrichment tags added to every log</a:t>
            </a:r>
            <a:endParaRPr lang="en-US" sz="1350" dirty="0"/>
          </a:p>
        </p:txBody>
      </p:sp>
      <p:sp>
        <p:nvSpPr>
          <p:cNvPr id="31" name="Text 29"/>
          <p:cNvSpPr/>
          <p:nvPr/>
        </p:nvSpPr>
        <p:spPr>
          <a:xfrm>
            <a:off x="6949440" y="4114800"/>
            <a:ext cx="4480560" cy="1463040"/>
          </a:xfrm>
          <a:prstGeom prst="rect">
            <a:avLst/>
          </a:prstGeom>
          <a:noFill/>
          <a:ln/>
        </p:spPr>
        <p:txBody>
          <a:bodyPr wrap="square" rtlCol="0" anchor="t"/>
          <a:lstStyle/>
          <a:p>
            <a:pPr marL="177800" indent="-177800">
              <a:lnSpc>
                <a:spcPct val="110000"/>
              </a:lnSpc>
              <a:spcAft>
                <a:spcPts val="1000"/>
              </a:spcAft>
              <a:buSzPct val="100000"/>
              <a:buChar char="▪"/>
            </a:pPr>
            <a:r>
              <a:rPr lang="en-US" sz="1150" dirty="0">
                <a:solidFill>
                  <a:srgbClr val="D6E5EA"/>
                </a:solidFill>
                <a:latin typeface="Calibri" pitchFamily="34" charset="0"/>
                <a:ea typeface="Calibri" pitchFamily="34" charset="-122"/>
                <a:cs typeface="Calibri" pitchFamily="34" charset="-120"/>
              </a:rPr>
              <a:t>service — K8s pod name, or 'dummy-service' for synthetic logs</a:t>
            </a:r>
            <a:endParaRPr lang="en-US" sz="1150" dirty="0"/>
          </a:p>
          <a:p>
            <a:pPr marL="177800" indent="-177800">
              <a:lnSpc>
                <a:spcPct val="110000"/>
              </a:lnSpc>
              <a:spcAft>
                <a:spcPts val="1000"/>
              </a:spcAft>
              <a:buSzPct val="100000"/>
              <a:buChar char="▪"/>
            </a:pPr>
            <a:r>
              <a:rPr lang="en-US" sz="1150" dirty="0">
                <a:solidFill>
                  <a:srgbClr val="D6E5EA"/>
                </a:solidFill>
                <a:latin typeface="Calibri" pitchFamily="34" charset="0"/>
                <a:ea typeface="Calibri" pitchFamily="34" charset="-122"/>
                <a:cs typeface="Calibri" pitchFamily="34" charset="-120"/>
              </a:rPr>
              <a:t>namespace — K8s namespace, or 'dummy-logs' for synthetic logs</a:t>
            </a:r>
            <a:endParaRPr lang="en-US" sz="1150" dirty="0"/>
          </a:p>
          <a:p>
            <a:pPr marL="177800" indent="-177800">
              <a:lnSpc>
                <a:spcPct val="110000"/>
              </a:lnSpc>
              <a:spcAft>
                <a:spcPts val="1000"/>
              </a:spcAft>
              <a:buSzPct val="100000"/>
              <a:buChar char="▪"/>
            </a:pPr>
            <a:r>
              <a:rPr lang="en-US" sz="1150" dirty="0">
                <a:solidFill>
                  <a:srgbClr val="D6E5EA"/>
                </a:solidFill>
                <a:latin typeface="Calibri" pitchFamily="34" charset="0"/>
                <a:ea typeface="Calibri" pitchFamily="34" charset="-122"/>
                <a:cs typeface="Calibri" pitchFamily="34" charset="-120"/>
              </a:rPr>
              <a:t>log_source — 'kubernetes' or 'dummy'</a:t>
            </a:r>
            <a:endParaRPr lang="en-US" sz="1150" dirty="0"/>
          </a:p>
        </p:txBody>
      </p:sp>
      <p:sp>
        <p:nvSpPr>
          <p:cNvPr id="32" name="Text 30"/>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33" name="Text 31"/>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VECTOR → OPENOBSERVE</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Metrics Pipeline — Ingestion Format Problem</a:t>
            </a:r>
            <a:endParaRPr lang="en-US" sz="3000" dirty="0"/>
          </a:p>
        </p:txBody>
      </p:sp>
      <p:sp>
        <p:nvSpPr>
          <p:cNvPr id="4" name="Text 2"/>
          <p:cNvSpPr/>
          <p:nvPr/>
        </p:nvSpPr>
        <p:spPr>
          <a:xfrm>
            <a:off x="502920" y="1188720"/>
            <a:ext cx="11155680" cy="365760"/>
          </a:xfrm>
          <a:prstGeom prst="rect">
            <a:avLst/>
          </a:prstGeom>
          <a:noFill/>
          <a:ln/>
        </p:spPr>
        <p:txBody>
          <a:bodyPr wrap="square" rtlCol="0" anchor="ctr"/>
          <a:lstStyle/>
          <a:p>
            <a:pPr indent="0" marL="0">
              <a:buNone/>
            </a:pPr>
            <a:r>
              <a:rPr lang="en-US" sz="1300" dirty="0">
                <a:solidFill>
                  <a:srgbClr val="5C7080"/>
                </a:solidFill>
                <a:latin typeface="Calibri" pitchFamily="34" charset="0"/>
                <a:ea typeface="Calibri" pitchFamily="34" charset="-122"/>
                <a:cs typeface="Calibri" pitchFamily="34" charset="-120"/>
              </a:rPr>
              <a:t>Four dummy metrics were generated: CPU usage, memory usage, request rate, and an ingestion event counter.</a:t>
            </a:r>
            <a:endParaRPr lang="en-US" sz="1300" dirty="0"/>
          </a:p>
        </p:txBody>
      </p:sp>
      <p:sp>
        <p:nvSpPr>
          <p:cNvPr id="5" name="Shape 3"/>
          <p:cNvSpPr/>
          <p:nvPr/>
        </p:nvSpPr>
        <p:spPr>
          <a:xfrm>
            <a:off x="502920" y="1691640"/>
            <a:ext cx="2606040" cy="685800"/>
          </a:xfrm>
          <a:prstGeom prst="roundRect">
            <a:avLst>
              <a:gd name="adj" fmla="val 10667"/>
            </a:avLst>
          </a:prstGeom>
          <a:solidFill>
            <a:srgbClr val="1C7293"/>
          </a:solidFill>
          <a:ln/>
        </p:spPr>
      </p:sp>
      <p:sp>
        <p:nvSpPr>
          <p:cNvPr id="6" name="Text 4"/>
          <p:cNvSpPr/>
          <p:nvPr/>
        </p:nvSpPr>
        <p:spPr>
          <a:xfrm>
            <a:off x="502920" y="1691640"/>
            <a:ext cx="2606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static_metrics</a:t>
            </a:r>
            <a:endParaRPr lang="en-US" sz="1200" dirty="0"/>
          </a:p>
        </p:txBody>
      </p:sp>
      <p:sp>
        <p:nvSpPr>
          <p:cNvPr id="7" name="Shape 5"/>
          <p:cNvSpPr/>
          <p:nvPr/>
        </p:nvSpPr>
        <p:spPr>
          <a:xfrm>
            <a:off x="3127248" y="1947672"/>
            <a:ext cx="182880" cy="182880"/>
          </a:xfrm>
          <a:prstGeom prst="rightArrow">
            <a:avLst/>
          </a:prstGeom>
          <a:solidFill>
            <a:srgbClr val="5C7080"/>
          </a:solidFill>
          <a:ln/>
        </p:spPr>
      </p:sp>
      <p:sp>
        <p:nvSpPr>
          <p:cNvPr id="8" name="Shape 6"/>
          <p:cNvSpPr/>
          <p:nvPr/>
        </p:nvSpPr>
        <p:spPr>
          <a:xfrm>
            <a:off x="3328416" y="1691640"/>
            <a:ext cx="2606040" cy="685800"/>
          </a:xfrm>
          <a:prstGeom prst="roundRect">
            <a:avLst>
              <a:gd name="adj" fmla="val 10667"/>
            </a:avLst>
          </a:prstGeom>
          <a:solidFill>
            <a:srgbClr val="F2A65A"/>
          </a:solidFill>
          <a:ln/>
        </p:spPr>
      </p:sp>
      <p:sp>
        <p:nvSpPr>
          <p:cNvPr id="9" name="Text 7"/>
          <p:cNvSpPr/>
          <p:nvPr/>
        </p:nvSpPr>
        <p:spPr>
          <a:xfrm>
            <a:off x="3328416" y="1691640"/>
            <a:ext cx="2606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metric_to_log</a:t>
            </a:r>
            <a:endParaRPr lang="en-US" sz="1200" dirty="0"/>
          </a:p>
        </p:txBody>
      </p:sp>
      <p:sp>
        <p:nvSpPr>
          <p:cNvPr id="10" name="Shape 8"/>
          <p:cNvSpPr/>
          <p:nvPr/>
        </p:nvSpPr>
        <p:spPr>
          <a:xfrm>
            <a:off x="5952744" y="1947672"/>
            <a:ext cx="182880" cy="182880"/>
          </a:xfrm>
          <a:prstGeom prst="rightArrow">
            <a:avLst/>
          </a:prstGeom>
          <a:solidFill>
            <a:srgbClr val="5C7080"/>
          </a:solidFill>
          <a:ln/>
        </p:spPr>
      </p:sp>
      <p:sp>
        <p:nvSpPr>
          <p:cNvPr id="11" name="Shape 9"/>
          <p:cNvSpPr/>
          <p:nvPr/>
        </p:nvSpPr>
        <p:spPr>
          <a:xfrm>
            <a:off x="6153912" y="1691640"/>
            <a:ext cx="2606040" cy="685800"/>
          </a:xfrm>
          <a:prstGeom prst="roundRect">
            <a:avLst>
              <a:gd name="adj" fmla="val 10667"/>
            </a:avLst>
          </a:prstGeom>
          <a:solidFill>
            <a:srgbClr val="1C7293"/>
          </a:solidFill>
          <a:ln/>
        </p:spPr>
      </p:sp>
      <p:sp>
        <p:nvSpPr>
          <p:cNvPr id="12" name="Text 10"/>
          <p:cNvSpPr/>
          <p:nvPr/>
        </p:nvSpPr>
        <p:spPr>
          <a:xfrm>
            <a:off x="6153912" y="1691640"/>
            <a:ext cx="2606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dummy_metrics_metadata</a:t>
            </a:r>
            <a:endParaRPr lang="en-US" sz="1200" dirty="0"/>
          </a:p>
        </p:txBody>
      </p:sp>
      <p:sp>
        <p:nvSpPr>
          <p:cNvPr id="13" name="Shape 11"/>
          <p:cNvSpPr/>
          <p:nvPr/>
        </p:nvSpPr>
        <p:spPr>
          <a:xfrm>
            <a:off x="8778240" y="1947672"/>
            <a:ext cx="182880" cy="182880"/>
          </a:xfrm>
          <a:prstGeom prst="rightArrow">
            <a:avLst/>
          </a:prstGeom>
          <a:solidFill>
            <a:srgbClr val="5C7080"/>
          </a:solidFill>
          <a:ln/>
        </p:spPr>
      </p:sp>
      <p:sp>
        <p:nvSpPr>
          <p:cNvPr id="14" name="Shape 12"/>
          <p:cNvSpPr/>
          <p:nvPr/>
        </p:nvSpPr>
        <p:spPr>
          <a:xfrm>
            <a:off x="8979408" y="1691640"/>
            <a:ext cx="2606040" cy="685800"/>
          </a:xfrm>
          <a:prstGeom prst="roundRect">
            <a:avLst>
              <a:gd name="adj" fmla="val 10667"/>
            </a:avLst>
          </a:prstGeom>
          <a:solidFill>
            <a:srgbClr val="1C7293"/>
          </a:solidFill>
          <a:ln/>
        </p:spPr>
      </p:sp>
      <p:sp>
        <p:nvSpPr>
          <p:cNvPr id="15" name="Text 13"/>
          <p:cNvSpPr/>
          <p:nvPr/>
        </p:nvSpPr>
        <p:spPr>
          <a:xfrm>
            <a:off x="8979408" y="1691640"/>
            <a:ext cx="2606040" cy="6858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OpenObserve</a:t>
            </a:r>
            <a:endParaRPr lang="en-US" sz="1200" dirty="0"/>
          </a:p>
        </p:txBody>
      </p:sp>
      <p:sp>
        <p:nvSpPr>
          <p:cNvPr id="16" name="Shape 14"/>
          <p:cNvSpPr/>
          <p:nvPr/>
        </p:nvSpPr>
        <p:spPr>
          <a:xfrm>
            <a:off x="502920" y="2651760"/>
            <a:ext cx="5440680" cy="3017520"/>
          </a:xfrm>
          <a:prstGeom prst="roundRect">
            <a:avLst>
              <a:gd name="adj" fmla="val 2424"/>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17" name="Shape 15"/>
          <p:cNvSpPr/>
          <p:nvPr/>
        </p:nvSpPr>
        <p:spPr>
          <a:xfrm>
            <a:off x="704088" y="2816352"/>
            <a:ext cx="978408" cy="292608"/>
          </a:xfrm>
          <a:prstGeom prst="roundRect">
            <a:avLst>
              <a:gd name="adj" fmla="val 18750"/>
            </a:avLst>
          </a:prstGeom>
          <a:solidFill>
            <a:srgbClr val="C1543A"/>
          </a:solidFill>
          <a:ln/>
        </p:spPr>
      </p:sp>
      <p:sp>
        <p:nvSpPr>
          <p:cNvPr id="18" name="Text 16"/>
          <p:cNvSpPr/>
          <p:nvPr/>
        </p:nvSpPr>
        <p:spPr>
          <a:xfrm>
            <a:off x="704088" y="28117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19" name="Text 17"/>
          <p:cNvSpPr/>
          <p:nvPr/>
        </p:nvSpPr>
        <p:spPr>
          <a:xfrm>
            <a:off x="704088" y="3145536"/>
            <a:ext cx="5038344" cy="967435"/>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Metrics were initially transformed directly with a remap transform before sending to OpenObserve. This produced HTTP 400 ingestion errors — the resulting metric structure didn't match what OpenObserve's metrics endpoint expected.</a:t>
            </a:r>
            <a:endParaRPr lang="en-US" sz="1250" dirty="0"/>
          </a:p>
        </p:txBody>
      </p:sp>
      <p:sp>
        <p:nvSpPr>
          <p:cNvPr id="20" name="Shape 18"/>
          <p:cNvSpPr/>
          <p:nvPr/>
        </p:nvSpPr>
        <p:spPr>
          <a:xfrm>
            <a:off x="704088" y="4167835"/>
            <a:ext cx="576072" cy="292608"/>
          </a:xfrm>
          <a:prstGeom prst="roundRect">
            <a:avLst>
              <a:gd name="adj" fmla="val 18750"/>
            </a:avLst>
          </a:prstGeom>
          <a:solidFill>
            <a:srgbClr val="1C7293"/>
          </a:solidFill>
          <a:ln/>
        </p:spPr>
      </p:sp>
      <p:sp>
        <p:nvSpPr>
          <p:cNvPr id="21" name="Text 19"/>
          <p:cNvSpPr/>
          <p:nvPr/>
        </p:nvSpPr>
        <p:spPr>
          <a:xfrm>
            <a:off x="704088" y="4163263"/>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22" name="Text 20"/>
          <p:cNvSpPr/>
          <p:nvPr/>
        </p:nvSpPr>
        <p:spPr>
          <a:xfrm>
            <a:off x="704088" y="4515307"/>
            <a:ext cx="5038344" cy="1135685"/>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Introduced a dedicated 'metric_to_log' transform to convert metrics into log-like JSON records first, then normalized them through a metadata step before sending — a structure OpenObserve could ingest reliably.</a:t>
            </a:r>
            <a:endParaRPr lang="en-US" sz="1250" dirty="0"/>
          </a:p>
        </p:txBody>
      </p:sp>
      <p:sp>
        <p:nvSpPr>
          <p:cNvPr id="23" name="Shape 21"/>
          <p:cNvSpPr/>
          <p:nvPr/>
        </p:nvSpPr>
        <p:spPr>
          <a:xfrm>
            <a:off x="6217920" y="2651760"/>
            <a:ext cx="5440680" cy="3017520"/>
          </a:xfrm>
          <a:prstGeom prst="roundRect">
            <a:avLst>
              <a:gd name="adj" fmla="val 2424"/>
            </a:avLst>
          </a:prstGeom>
          <a:solidFill>
            <a:srgbClr val="FFFFFF"/>
          </a:solidFill>
          <a:ln w="12700">
            <a:solidFill>
              <a:srgbClr val="D8E3E9"/>
            </a:solidFill>
            <a:prstDash val="solid"/>
          </a:ln>
        </p:spPr>
      </p:sp>
      <p:sp>
        <p:nvSpPr>
          <p:cNvPr id="24" name="Text 22"/>
          <p:cNvSpPr/>
          <p:nvPr/>
        </p:nvSpPr>
        <p:spPr>
          <a:xfrm>
            <a:off x="6492240" y="2834640"/>
            <a:ext cx="4892040" cy="274320"/>
          </a:xfrm>
          <a:prstGeom prst="rect">
            <a:avLst/>
          </a:prstGeom>
          <a:noFill/>
          <a:ln/>
        </p:spPr>
        <p:txBody>
          <a:bodyPr wrap="square" rtlCol="0" anchor="ctr"/>
          <a:lstStyle/>
          <a:p>
            <a:pPr indent="0" marL="0">
              <a:buNone/>
            </a:pPr>
            <a:r>
              <a:rPr lang="en-US" sz="1400" b="1" dirty="0">
                <a:solidFill>
                  <a:srgbClr val="0B3245"/>
                </a:solidFill>
                <a:latin typeface="Cambria" pitchFamily="34" charset="0"/>
                <a:ea typeface="Cambria" pitchFamily="34" charset="-122"/>
                <a:cs typeface="Cambria" pitchFamily="34" charset="-120"/>
              </a:rPr>
              <a:t>Normalized metric metadata</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92240" y="3200400"/>
          <a:ext cx="4892040" cy="914400"/>
        </p:xfrm>
        <a:graphic>
          <a:graphicData uri="http://schemas.openxmlformats.org/drawingml/2006/table">
            <a:tbl>
              <a:tblPr/>
              <a:tblGrid>
                <a:gridCol w="2331720"/>
                <a:gridCol w="1280160"/>
                <a:gridCol w="1280160"/>
              </a:tblGrid>
              <a:tr h="41148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metric_name</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0B32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__type__</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0B3245"/>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0B3245"/>
                    </a:solidFill>
                  </a:tcPr>
                </a:tc>
              </a:tr>
              <a:tr h="411480">
                <a:tc>
                  <a:txBody>
                    <a:bodyPr/>
                    <a:lstStyle/>
                    <a:p>
                      <a:pPr indent="0" marL="0">
                        <a:buNone/>
                      </a:pPr>
                      <a:r>
                        <a:rPr lang="en-US" sz="1100" dirty="0">
                          <a:solidFill>
                            <a:srgbClr val="16232E"/>
                          </a:solidFill>
                          <a:latin typeface="Consolas" pitchFamily="34" charset="0"/>
                          <a:ea typeface="Consolas" pitchFamily="34" charset="-122"/>
                          <a:cs typeface="Consolas" pitchFamily="34" charset="-120"/>
                        </a:rPr>
                        <a:t>cpu_usage_percent</a:t>
                      </a:r>
                      <a:endParaRPr lang="en-US" sz="1100" dirty="0">
                        <a:latin typeface="Consolas" charset="0"/>
                        <a:ea typeface="Consolas" charset="0"/>
                        <a:cs typeface="Consolas"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gauge</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42.5</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6232E"/>
                          </a:solidFill>
                          <a:latin typeface="Consolas" pitchFamily="34" charset="0"/>
                          <a:ea typeface="Consolas" pitchFamily="34" charset="-122"/>
                          <a:cs typeface="Consolas" pitchFamily="34" charset="-120"/>
                        </a:rPr>
                        <a:t>memory_usage_bytes</a:t>
                      </a:r>
                      <a:endParaRPr lang="en-US" sz="1100" dirty="0">
                        <a:latin typeface="Consolas" charset="0"/>
                        <a:ea typeface="Consolas" charset="0"/>
                        <a:cs typeface="Consolas"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gauge</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524288000</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r h="411480">
                <a:tc>
                  <a:txBody>
                    <a:bodyPr/>
                    <a:lstStyle/>
                    <a:p>
                      <a:pPr indent="0" marL="0">
                        <a:buNone/>
                      </a:pPr>
                      <a:r>
                        <a:rPr lang="en-US" sz="1100" dirty="0">
                          <a:solidFill>
                            <a:srgbClr val="16232E"/>
                          </a:solidFill>
                          <a:latin typeface="Consolas" pitchFamily="34" charset="0"/>
                          <a:ea typeface="Consolas" pitchFamily="34" charset="-122"/>
                          <a:cs typeface="Consolas" pitchFamily="34" charset="-120"/>
                        </a:rPr>
                        <a:t>request_rate</a:t>
                      </a:r>
                      <a:endParaRPr lang="en-US" sz="1100" dirty="0">
                        <a:latin typeface="Consolas" charset="0"/>
                        <a:ea typeface="Consolas" charset="0"/>
                        <a:cs typeface="Consolas"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gauge</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125</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FFFFFF"/>
                    </a:solidFill>
                  </a:tcPr>
                </a:tc>
              </a:tr>
              <a:tr h="411480">
                <a:tc>
                  <a:txBody>
                    <a:bodyPr/>
                    <a:lstStyle/>
                    <a:p>
                      <a:pPr indent="0" marL="0">
                        <a:buNone/>
                      </a:pPr>
                      <a:r>
                        <a:rPr lang="en-US" sz="1100" dirty="0">
                          <a:solidFill>
                            <a:srgbClr val="16232E"/>
                          </a:solidFill>
                          <a:latin typeface="Consolas" pitchFamily="34" charset="0"/>
                          <a:ea typeface="Consolas" pitchFamily="34" charset="-122"/>
                          <a:cs typeface="Consolas" pitchFamily="34" charset="-120"/>
                        </a:rPr>
                        <a:t>ingestion_events_total</a:t>
                      </a:r>
                      <a:endParaRPr lang="en-US" sz="1100" dirty="0">
                        <a:latin typeface="Consolas" charset="0"/>
                        <a:ea typeface="Consolas" charset="0"/>
                        <a:cs typeface="Consolas"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counter</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c>
                  <a:txBody>
                    <a:bodyPr/>
                    <a:lstStyle/>
                    <a:p>
                      <a:pPr indent="0" marL="0">
                        <a:buNone/>
                      </a:pPr>
                      <a:r>
                        <a:rPr lang="en-US" sz="1150" dirty="0">
                          <a:solidFill>
                            <a:srgbClr val="5C708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12700" cap="flat" cmpd="sng" algn="ctr">
                      <a:solidFill>
                        <a:srgbClr val="D8E3E9"/>
                      </a:solidFill>
                      <a:prstDash val="solid"/>
                      <a:round/>
                      <a:headEnd type="none" w="med" len="med"/>
                      <a:tailEnd type="none" w="med" len="med"/>
                    </a:lnL>
                    <a:lnR w="12700" cap="flat" cmpd="sng" algn="ctr">
                      <a:solidFill>
                        <a:srgbClr val="D8E3E9"/>
                      </a:solidFill>
                      <a:prstDash val="solid"/>
                      <a:round/>
                      <a:headEnd type="none" w="med" len="med"/>
                      <a:tailEnd type="none" w="med" len="med"/>
                    </a:lnR>
                    <a:lnT w="12700" cap="flat" cmpd="sng" algn="ctr">
                      <a:solidFill>
                        <a:srgbClr val="D8E3E9"/>
                      </a:solidFill>
                      <a:prstDash val="solid"/>
                      <a:round/>
                      <a:headEnd type="none" w="med" len="med"/>
                      <a:tailEnd type="none" w="med" len="med"/>
                    </a:lnT>
                    <a:lnB w="12700" cap="flat" cmpd="sng" algn="ctr">
                      <a:solidFill>
                        <a:srgbClr val="D8E3E9"/>
                      </a:solidFill>
                      <a:prstDash val="solid"/>
                      <a:round/>
                      <a:headEnd type="none" w="med" len="med"/>
                      <a:tailEnd type="none" w="med" len="med"/>
                    </a:lnB>
                    <a:solidFill>
                      <a:srgbClr val="EAF1F4"/>
                    </a:solidFill>
                  </a:tcPr>
                </a:tc>
              </a:tr>
            </a:tbl>
          </a:graphicData>
        </a:graphic>
      </p:graphicFrame>
      <p:sp>
        <p:nvSpPr>
          <p:cNvPr id="26" name="Text 23"/>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7" name="Text 24"/>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ROOT-CAUSE ANALYSIS</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Debugging Deep Dive — A Misplaced Transform</a:t>
            </a:r>
            <a:endParaRPr lang="en-US" sz="3000" dirty="0"/>
          </a:p>
        </p:txBody>
      </p:sp>
      <p:sp>
        <p:nvSpPr>
          <p:cNvPr id="4" name="Shape 2"/>
          <p:cNvSpPr/>
          <p:nvPr/>
        </p:nvSpPr>
        <p:spPr>
          <a:xfrm>
            <a:off x="502920" y="1280160"/>
            <a:ext cx="11155680" cy="2834640"/>
          </a:xfrm>
          <a:prstGeom prst="roundRect">
            <a:avLst>
              <a:gd name="adj" fmla="val 2581"/>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5" name="Shape 3"/>
          <p:cNvSpPr/>
          <p:nvPr/>
        </p:nvSpPr>
        <p:spPr>
          <a:xfrm>
            <a:off x="704088" y="1444752"/>
            <a:ext cx="978408" cy="292608"/>
          </a:xfrm>
          <a:prstGeom prst="roundRect">
            <a:avLst>
              <a:gd name="adj" fmla="val 18750"/>
            </a:avLst>
          </a:prstGeom>
          <a:solidFill>
            <a:srgbClr val="C1543A"/>
          </a:solidFill>
          <a:ln/>
        </p:spPr>
      </p:sp>
      <p:sp>
        <p:nvSpPr>
          <p:cNvPr id="6" name="Text 4"/>
          <p:cNvSpPr/>
          <p:nvPr/>
        </p:nvSpPr>
        <p:spPr>
          <a:xfrm>
            <a:off x="704088" y="14401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7" name="Text 5"/>
          <p:cNvSpPr/>
          <p:nvPr/>
        </p:nvSpPr>
        <p:spPr>
          <a:xfrm>
            <a:off x="704088" y="1773936"/>
            <a:ext cx="10753344" cy="883310"/>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During development, the JSON log-parsing logic was accidentally placed inside the metric transform block instead of the log transform block. This caused repeated errors: 'parse_json expected string got null', and OpenObserve responded with HTTP 400 — because the metric transform was now trying to parse_json a field that didn't exist on metric events.</a:t>
            </a:r>
            <a:endParaRPr lang="en-US" sz="1250" dirty="0"/>
          </a:p>
        </p:txBody>
      </p:sp>
      <p:sp>
        <p:nvSpPr>
          <p:cNvPr id="8" name="Shape 6"/>
          <p:cNvSpPr/>
          <p:nvPr/>
        </p:nvSpPr>
        <p:spPr>
          <a:xfrm>
            <a:off x="704088" y="2712110"/>
            <a:ext cx="576072" cy="292608"/>
          </a:xfrm>
          <a:prstGeom prst="roundRect">
            <a:avLst>
              <a:gd name="adj" fmla="val 18750"/>
            </a:avLst>
          </a:prstGeom>
          <a:solidFill>
            <a:srgbClr val="1C7293"/>
          </a:solidFill>
          <a:ln/>
        </p:spPr>
      </p:sp>
      <p:sp>
        <p:nvSpPr>
          <p:cNvPr id="9" name="Text 7"/>
          <p:cNvSpPr/>
          <p:nvPr/>
        </p:nvSpPr>
        <p:spPr>
          <a:xfrm>
            <a:off x="704088" y="2707538"/>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10" name="Text 8"/>
          <p:cNvSpPr/>
          <p:nvPr/>
        </p:nvSpPr>
        <p:spPr>
          <a:xfrm>
            <a:off x="704088" y="3059582"/>
            <a:ext cx="10753344" cy="1036930"/>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Enabled Vector's built-in API (0.0.0.0:8686) and used 'vector tap' to inspect events live as they moved through each transform — e.g. 'vector tap dummy_metadata --limit=5' and 'vector tap dummy_metrics_metadata --limit=4'. This isolated exactly where the malformed data appeared, confirming the log-parsing VRL had ended up under the wrong transform. Moved the JSON parsing back into 'dummy_metadata' and restored the correct metric transform under 'dummy_metrics_metadata' — the pipeline became healthy immediately after.</a:t>
            </a:r>
            <a:endParaRPr lang="en-US" sz="1250" dirty="0"/>
          </a:p>
        </p:txBody>
      </p:sp>
      <p:sp>
        <p:nvSpPr>
          <p:cNvPr id="11" name="Shape 9"/>
          <p:cNvSpPr/>
          <p:nvPr/>
        </p:nvSpPr>
        <p:spPr>
          <a:xfrm>
            <a:off x="502920" y="4343400"/>
            <a:ext cx="11155680" cy="1691640"/>
          </a:xfrm>
          <a:prstGeom prst="roundRect">
            <a:avLst>
              <a:gd name="adj" fmla="val 4324"/>
            </a:avLst>
          </a:prstGeom>
          <a:solidFill>
            <a:srgbClr val="0B3245"/>
          </a:solidFill>
          <a:ln/>
        </p:spPr>
      </p:sp>
      <p:sp>
        <p:nvSpPr>
          <p:cNvPr id="12" name="Text 10"/>
          <p:cNvSpPr/>
          <p:nvPr/>
        </p:nvSpPr>
        <p:spPr>
          <a:xfrm>
            <a:off x="777240" y="4526280"/>
            <a:ext cx="10607040" cy="274320"/>
          </a:xfrm>
          <a:prstGeom prst="rect">
            <a:avLst/>
          </a:prstGeom>
          <a:noFill/>
          <a:ln/>
        </p:spPr>
        <p:txBody>
          <a:bodyPr wrap="square"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What vector tap confirmed after the fix</a:t>
            </a:r>
            <a:endParaRPr lang="en-US" sz="1350" dirty="0"/>
          </a:p>
        </p:txBody>
      </p:sp>
      <p:sp>
        <p:nvSpPr>
          <p:cNvPr id="13" name="Text 11"/>
          <p:cNvSpPr/>
          <p:nvPr/>
        </p:nvSpPr>
        <p:spPr>
          <a:xfrm>
            <a:off x="777240" y="4892040"/>
            <a:ext cx="2048256" cy="274320"/>
          </a:xfrm>
          <a:prstGeom prst="rect">
            <a:avLst/>
          </a:prstGeom>
          <a:noFill/>
          <a:ln/>
        </p:spPr>
        <p:txBody>
          <a:bodyPr wrap="square" rtlCol="0" anchor="ctr"/>
          <a:lstStyle/>
          <a:p>
            <a:pPr indent="0" marL="0">
              <a:buNone/>
            </a:pPr>
            <a:r>
              <a:rPr lang="en-US" sz="1050" dirty="0">
                <a:solidFill>
                  <a:srgbClr val="9FB4C0"/>
                </a:solidFill>
                <a:latin typeface="Calibri" pitchFamily="34" charset="0"/>
                <a:ea typeface="Calibri" pitchFamily="34" charset="-122"/>
                <a:cs typeface="Calibri" pitchFamily="34" charset="-120"/>
              </a:rPr>
              <a:t>Log levels</a:t>
            </a:r>
            <a:endParaRPr lang="en-US" sz="1050" dirty="0"/>
          </a:p>
        </p:txBody>
      </p:sp>
      <p:sp>
        <p:nvSpPr>
          <p:cNvPr id="14" name="Text 12"/>
          <p:cNvSpPr/>
          <p:nvPr/>
        </p:nvSpPr>
        <p:spPr>
          <a:xfrm>
            <a:off x="777240" y="5138928"/>
            <a:ext cx="2048256" cy="5029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warn / error / info flowing correctly</a:t>
            </a:r>
            <a:endParaRPr lang="en-US" sz="1200" dirty="0"/>
          </a:p>
        </p:txBody>
      </p:sp>
      <p:sp>
        <p:nvSpPr>
          <p:cNvPr id="15" name="Text 13"/>
          <p:cNvSpPr/>
          <p:nvPr/>
        </p:nvSpPr>
        <p:spPr>
          <a:xfrm>
            <a:off x="2916936" y="4892040"/>
            <a:ext cx="2048256" cy="274320"/>
          </a:xfrm>
          <a:prstGeom prst="rect">
            <a:avLst/>
          </a:prstGeom>
          <a:noFill/>
          <a:ln/>
        </p:spPr>
        <p:txBody>
          <a:bodyPr wrap="square" rtlCol="0" anchor="ctr"/>
          <a:lstStyle/>
          <a:p>
            <a:pPr indent="0" marL="0">
              <a:buNone/>
            </a:pPr>
            <a:r>
              <a:rPr lang="en-US" sz="1050" dirty="0">
                <a:solidFill>
                  <a:srgbClr val="9FB4C0"/>
                </a:solidFill>
                <a:latin typeface="Calibri" pitchFamily="34" charset="0"/>
                <a:ea typeface="Calibri" pitchFamily="34" charset="-122"/>
                <a:cs typeface="Calibri" pitchFamily="34" charset="-120"/>
              </a:rPr>
              <a:t>CPU</a:t>
            </a:r>
            <a:endParaRPr lang="en-US" sz="1050" dirty="0"/>
          </a:p>
        </p:txBody>
      </p:sp>
      <p:sp>
        <p:nvSpPr>
          <p:cNvPr id="16" name="Text 14"/>
          <p:cNvSpPr/>
          <p:nvPr/>
        </p:nvSpPr>
        <p:spPr>
          <a:xfrm>
            <a:off x="2916936" y="5138928"/>
            <a:ext cx="2048256" cy="5029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42.5</a:t>
            </a:r>
            <a:endParaRPr lang="en-US" sz="1200" dirty="0"/>
          </a:p>
        </p:txBody>
      </p:sp>
      <p:sp>
        <p:nvSpPr>
          <p:cNvPr id="17" name="Text 15"/>
          <p:cNvSpPr/>
          <p:nvPr/>
        </p:nvSpPr>
        <p:spPr>
          <a:xfrm>
            <a:off x="5056632" y="4892040"/>
            <a:ext cx="2048256" cy="274320"/>
          </a:xfrm>
          <a:prstGeom prst="rect">
            <a:avLst/>
          </a:prstGeom>
          <a:noFill/>
          <a:ln/>
        </p:spPr>
        <p:txBody>
          <a:bodyPr wrap="square" rtlCol="0" anchor="ctr"/>
          <a:lstStyle/>
          <a:p>
            <a:pPr indent="0" marL="0">
              <a:buNone/>
            </a:pPr>
            <a:r>
              <a:rPr lang="en-US" sz="1050" dirty="0">
                <a:solidFill>
                  <a:srgbClr val="9FB4C0"/>
                </a:solidFill>
                <a:latin typeface="Calibri" pitchFamily="34" charset="0"/>
                <a:ea typeface="Calibri" pitchFamily="34" charset="-122"/>
                <a:cs typeface="Calibri" pitchFamily="34" charset="-120"/>
              </a:rPr>
              <a:t>Memory</a:t>
            </a:r>
            <a:endParaRPr lang="en-US" sz="1050" dirty="0"/>
          </a:p>
        </p:txBody>
      </p:sp>
      <p:sp>
        <p:nvSpPr>
          <p:cNvPr id="18" name="Text 16"/>
          <p:cNvSpPr/>
          <p:nvPr/>
        </p:nvSpPr>
        <p:spPr>
          <a:xfrm>
            <a:off x="5056632" y="5138928"/>
            <a:ext cx="2048256" cy="5029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524288000</a:t>
            </a:r>
            <a:endParaRPr lang="en-US" sz="1200" dirty="0"/>
          </a:p>
        </p:txBody>
      </p:sp>
      <p:sp>
        <p:nvSpPr>
          <p:cNvPr id="19" name="Text 17"/>
          <p:cNvSpPr/>
          <p:nvPr/>
        </p:nvSpPr>
        <p:spPr>
          <a:xfrm>
            <a:off x="7196328" y="4892040"/>
            <a:ext cx="2048256" cy="274320"/>
          </a:xfrm>
          <a:prstGeom prst="rect">
            <a:avLst/>
          </a:prstGeom>
          <a:noFill/>
          <a:ln/>
        </p:spPr>
        <p:txBody>
          <a:bodyPr wrap="square" rtlCol="0" anchor="ctr"/>
          <a:lstStyle/>
          <a:p>
            <a:pPr indent="0" marL="0">
              <a:buNone/>
            </a:pPr>
            <a:r>
              <a:rPr lang="en-US" sz="1050" dirty="0">
                <a:solidFill>
                  <a:srgbClr val="9FB4C0"/>
                </a:solidFill>
                <a:latin typeface="Calibri" pitchFamily="34" charset="0"/>
                <a:ea typeface="Calibri" pitchFamily="34" charset="-122"/>
                <a:cs typeface="Calibri" pitchFamily="34" charset="-120"/>
              </a:rPr>
              <a:t>Request rate</a:t>
            </a:r>
            <a:endParaRPr lang="en-US" sz="1050" dirty="0"/>
          </a:p>
        </p:txBody>
      </p:sp>
      <p:sp>
        <p:nvSpPr>
          <p:cNvPr id="20" name="Text 18"/>
          <p:cNvSpPr/>
          <p:nvPr/>
        </p:nvSpPr>
        <p:spPr>
          <a:xfrm>
            <a:off x="7196328" y="5138928"/>
            <a:ext cx="2048256" cy="5029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125</a:t>
            </a:r>
            <a:endParaRPr lang="en-US" sz="1200" dirty="0"/>
          </a:p>
        </p:txBody>
      </p:sp>
      <p:sp>
        <p:nvSpPr>
          <p:cNvPr id="21" name="Text 19"/>
          <p:cNvSpPr/>
          <p:nvPr/>
        </p:nvSpPr>
        <p:spPr>
          <a:xfrm>
            <a:off x="9336024" y="4892040"/>
            <a:ext cx="2048256" cy="274320"/>
          </a:xfrm>
          <a:prstGeom prst="rect">
            <a:avLst/>
          </a:prstGeom>
          <a:noFill/>
          <a:ln/>
        </p:spPr>
        <p:txBody>
          <a:bodyPr wrap="square" rtlCol="0" anchor="ctr"/>
          <a:lstStyle/>
          <a:p>
            <a:pPr indent="0" marL="0">
              <a:buNone/>
            </a:pPr>
            <a:r>
              <a:rPr lang="en-US" sz="1050" dirty="0">
                <a:solidFill>
                  <a:srgbClr val="9FB4C0"/>
                </a:solidFill>
                <a:latin typeface="Calibri" pitchFamily="34" charset="0"/>
                <a:ea typeface="Calibri" pitchFamily="34" charset="-122"/>
                <a:cs typeface="Calibri" pitchFamily="34" charset="-120"/>
              </a:rPr>
              <a:t>Ingestion counter</a:t>
            </a:r>
            <a:endParaRPr lang="en-US" sz="1050" dirty="0"/>
          </a:p>
        </p:txBody>
      </p:sp>
      <p:sp>
        <p:nvSpPr>
          <p:cNvPr id="22" name="Text 20"/>
          <p:cNvSpPr/>
          <p:nvPr/>
        </p:nvSpPr>
        <p:spPr>
          <a:xfrm>
            <a:off x="9336024" y="5138928"/>
            <a:ext cx="2048256" cy="502920"/>
          </a:xfrm>
          <a:prstGeom prst="rect">
            <a:avLst/>
          </a:prstGeom>
          <a:noFill/>
          <a:ln/>
        </p:spPr>
        <p:txBody>
          <a:bodyPr wrap="square" rtlCol="0" anchor="ctr"/>
          <a:lstStyle/>
          <a:p>
            <a:pPr indent="0" marL="0">
              <a:lnSpc>
                <a:spcPct val="110000"/>
              </a:lnSpc>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3" name="Text 21"/>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4" name="Text 22"/>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LOGS &amp; METRICS VISUALIZED</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OpenObserve Dashboards</a:t>
            </a:r>
            <a:endParaRPr lang="en-US" sz="3000" dirty="0"/>
          </a:p>
        </p:txBody>
      </p:sp>
      <p:sp>
        <p:nvSpPr>
          <p:cNvPr id="4" name="Shape 2"/>
          <p:cNvSpPr/>
          <p:nvPr/>
        </p:nvSpPr>
        <p:spPr>
          <a:xfrm>
            <a:off x="502920" y="1234440"/>
            <a:ext cx="5440680" cy="3337560"/>
          </a:xfrm>
          <a:prstGeom prst="roundRect">
            <a:avLst>
              <a:gd name="adj" fmla="val 2192"/>
            </a:avLst>
          </a:prstGeom>
          <a:solidFill>
            <a:srgbClr val="FFFFFF"/>
          </a:solidFill>
          <a:ln w="12700">
            <a:solidFill>
              <a:srgbClr val="D8E3E9"/>
            </a:solidFill>
            <a:prstDash val="solid"/>
          </a:ln>
        </p:spPr>
      </p:sp>
      <p:sp>
        <p:nvSpPr>
          <p:cNvPr id="5" name="Shape 3"/>
          <p:cNvSpPr/>
          <p:nvPr/>
        </p:nvSpPr>
        <p:spPr>
          <a:xfrm>
            <a:off x="502920" y="1234440"/>
            <a:ext cx="5440680" cy="502920"/>
          </a:xfrm>
          <a:prstGeom prst="roundRect">
            <a:avLst>
              <a:gd name="adj" fmla="val 14545"/>
            </a:avLst>
          </a:prstGeom>
          <a:solidFill>
            <a:srgbClr val="1C7293"/>
          </a:solidFill>
          <a:ln/>
        </p:spPr>
      </p:sp>
      <p:sp>
        <p:nvSpPr>
          <p:cNvPr id="6" name="Shape 4"/>
          <p:cNvSpPr/>
          <p:nvPr/>
        </p:nvSpPr>
        <p:spPr>
          <a:xfrm>
            <a:off x="502920" y="1490472"/>
            <a:ext cx="5440680" cy="246888"/>
          </a:xfrm>
          <a:prstGeom prst="rect">
            <a:avLst/>
          </a:prstGeom>
          <a:solidFill>
            <a:srgbClr val="1C7293"/>
          </a:solidFill>
          <a:ln/>
        </p:spPr>
      </p:sp>
      <p:sp>
        <p:nvSpPr>
          <p:cNvPr id="7" name="Text 5"/>
          <p:cNvSpPr/>
          <p:nvPr/>
        </p:nvSpPr>
        <p:spPr>
          <a:xfrm>
            <a:off x="502920" y="1234440"/>
            <a:ext cx="5440680" cy="5029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Kubernetes Observability — Logs</a:t>
            </a:r>
            <a:endParaRPr lang="en-US" sz="1400" dirty="0"/>
          </a:p>
        </p:txBody>
      </p:sp>
      <p:sp>
        <p:nvSpPr>
          <p:cNvPr id="8" name="Text 6"/>
          <p:cNvSpPr/>
          <p:nvPr/>
        </p:nvSpPr>
        <p:spPr>
          <a:xfrm>
            <a:off x="777240" y="1920240"/>
            <a:ext cx="4892040" cy="2560320"/>
          </a:xfrm>
          <a:prstGeom prst="rect">
            <a:avLst/>
          </a:prstGeom>
          <a:noFill/>
          <a:ln/>
        </p:spPr>
        <p:txBody>
          <a:bodyPr wrap="square" rtlCol="0" anchor="t"/>
          <a:lstStyle/>
          <a:p>
            <a:pPr marL="177800" indent="-177800">
              <a:lnSpc>
                <a:spcPct val="110000"/>
              </a:lnSpc>
              <a:spcAft>
                <a:spcPts val="1600"/>
              </a:spcAft>
              <a:buSzPct val="100000"/>
              <a:buChar char="▪"/>
            </a:pPr>
            <a:r>
              <a:rPr lang="en-US" sz="1200" dirty="0">
                <a:solidFill>
                  <a:srgbClr val="16232E"/>
                </a:solidFill>
                <a:latin typeface="Calibri" pitchFamily="34" charset="0"/>
                <a:ea typeface="Calibri" pitchFamily="34" charset="-122"/>
                <a:cs typeface="Calibri" pitchFamily="34" charset="-120"/>
              </a:rPr>
              <a:t>Log Volume Over Time — built-in histogram, ~40 events per interval</a:t>
            </a:r>
            <a:endParaRPr lang="en-US" sz="1200" dirty="0"/>
          </a:p>
          <a:p>
            <a:pPr marL="177800" indent="-177800">
              <a:lnSpc>
                <a:spcPct val="110000"/>
              </a:lnSpc>
              <a:spcAft>
                <a:spcPts val="1600"/>
              </a:spcAft>
              <a:buSzPct val="100000"/>
              <a:buChar char="▪"/>
            </a:pPr>
            <a:r>
              <a:rPr lang="en-US" sz="1200" dirty="0">
                <a:solidFill>
                  <a:srgbClr val="16232E"/>
                </a:solidFill>
                <a:latin typeface="Calibri" pitchFamily="34" charset="0"/>
                <a:ea typeface="Calibri" pitchFamily="34" charset="-122"/>
                <a:cs typeface="Calibri" pitchFamily="34" charset="-120"/>
              </a:rPr>
              <a:t>Log Level Breakdown — grouped by level (info ~39%, warn ~33%, error ~28%)</a:t>
            </a:r>
            <a:endParaRPr lang="en-US" sz="1200" dirty="0"/>
          </a:p>
          <a:p>
            <a:pPr marL="177800" indent="-177800">
              <a:lnSpc>
                <a:spcPct val="110000"/>
              </a:lnSpc>
              <a:spcAft>
                <a:spcPts val="1600"/>
              </a:spcAft>
              <a:buSzPct val="100000"/>
              <a:buChar char="▪"/>
            </a:pPr>
            <a:r>
              <a:rPr lang="en-US" sz="1200" dirty="0">
                <a:solidFill>
                  <a:srgbClr val="16232E"/>
                </a:solidFill>
                <a:latin typeface="Calibri" pitchFamily="34" charset="0"/>
                <a:ea typeface="Calibri" pitchFamily="34" charset="-122"/>
                <a:cs typeface="Calibri" pitchFamily="34" charset="-120"/>
              </a:rPr>
              <a:t>Top Services — grouped by service field (K8s pod name or dummy-service)</a:t>
            </a:r>
            <a:endParaRPr lang="en-US" sz="1200" dirty="0"/>
          </a:p>
        </p:txBody>
      </p:sp>
      <p:sp>
        <p:nvSpPr>
          <p:cNvPr id="9" name="Shape 7"/>
          <p:cNvSpPr/>
          <p:nvPr/>
        </p:nvSpPr>
        <p:spPr>
          <a:xfrm>
            <a:off x="6217920" y="1234440"/>
            <a:ext cx="5440680" cy="3337560"/>
          </a:xfrm>
          <a:prstGeom prst="roundRect">
            <a:avLst>
              <a:gd name="adj" fmla="val 2192"/>
            </a:avLst>
          </a:prstGeom>
          <a:solidFill>
            <a:srgbClr val="FFFFFF"/>
          </a:solidFill>
          <a:ln w="12700">
            <a:solidFill>
              <a:srgbClr val="D8E3E9"/>
            </a:solidFill>
            <a:prstDash val="solid"/>
          </a:ln>
        </p:spPr>
      </p:sp>
      <p:sp>
        <p:nvSpPr>
          <p:cNvPr id="10" name="Shape 8"/>
          <p:cNvSpPr/>
          <p:nvPr/>
        </p:nvSpPr>
        <p:spPr>
          <a:xfrm>
            <a:off x="6217920" y="1234440"/>
            <a:ext cx="5440680" cy="502920"/>
          </a:xfrm>
          <a:prstGeom prst="roundRect">
            <a:avLst>
              <a:gd name="adj" fmla="val 14545"/>
            </a:avLst>
          </a:prstGeom>
          <a:solidFill>
            <a:srgbClr val="0B3245"/>
          </a:solidFill>
          <a:ln/>
        </p:spPr>
      </p:sp>
      <p:sp>
        <p:nvSpPr>
          <p:cNvPr id="11" name="Shape 9"/>
          <p:cNvSpPr/>
          <p:nvPr/>
        </p:nvSpPr>
        <p:spPr>
          <a:xfrm>
            <a:off x="6217920" y="1490472"/>
            <a:ext cx="5440680" cy="246888"/>
          </a:xfrm>
          <a:prstGeom prst="rect">
            <a:avLst/>
          </a:prstGeom>
          <a:solidFill>
            <a:srgbClr val="0B3245"/>
          </a:solidFill>
          <a:ln/>
        </p:spPr>
      </p:sp>
      <p:sp>
        <p:nvSpPr>
          <p:cNvPr id="12" name="Text 10"/>
          <p:cNvSpPr/>
          <p:nvPr/>
        </p:nvSpPr>
        <p:spPr>
          <a:xfrm>
            <a:off x="6217920" y="1234440"/>
            <a:ext cx="5440680" cy="50292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Kubernetes Observability — Metrics</a:t>
            </a:r>
            <a:endParaRPr lang="en-US" sz="1400" dirty="0"/>
          </a:p>
        </p:txBody>
      </p:sp>
      <p:sp>
        <p:nvSpPr>
          <p:cNvPr id="13" name="Text 11"/>
          <p:cNvSpPr/>
          <p:nvPr/>
        </p:nvSpPr>
        <p:spPr>
          <a:xfrm>
            <a:off x="6492240" y="1920240"/>
            <a:ext cx="4892040" cy="2560320"/>
          </a:xfrm>
          <a:prstGeom prst="rect">
            <a:avLst/>
          </a:prstGeom>
          <a:noFill/>
          <a:ln/>
        </p:spPr>
        <p:txBody>
          <a:bodyPr wrap="square" rtlCol="0" anchor="t"/>
          <a:lstStyle/>
          <a:p>
            <a:pPr marL="177800" indent="-177800">
              <a:lnSpc>
                <a:spcPct val="110000"/>
              </a:lnSpc>
              <a:spcAft>
                <a:spcPts val="1200"/>
              </a:spcAft>
              <a:buSzPct val="100000"/>
              <a:buChar char="▪"/>
            </a:pPr>
            <a:r>
              <a:rPr lang="en-US" sz="1200" dirty="0">
                <a:solidFill>
                  <a:srgbClr val="16232E"/>
                </a:solidFill>
                <a:latin typeface="Calibri" pitchFamily="34" charset="0"/>
                <a:ea typeface="Calibri" pitchFamily="34" charset="-122"/>
                <a:cs typeface="Calibri" pitchFamily="34" charset="-120"/>
              </a:rPr>
              <a:t>CPU Usage — cpu_usage_percent (42.5%)</a:t>
            </a:r>
            <a:endParaRPr lang="en-US" sz="1200" dirty="0"/>
          </a:p>
          <a:p>
            <a:pPr marL="177800" indent="-177800">
              <a:lnSpc>
                <a:spcPct val="110000"/>
              </a:lnSpc>
              <a:spcAft>
                <a:spcPts val="1200"/>
              </a:spcAft>
              <a:buSzPct val="100000"/>
              <a:buChar char="▪"/>
            </a:pPr>
            <a:r>
              <a:rPr lang="en-US" sz="1200" dirty="0">
                <a:solidFill>
                  <a:srgbClr val="16232E"/>
                </a:solidFill>
                <a:latin typeface="Calibri" pitchFamily="34" charset="0"/>
                <a:ea typeface="Calibri" pitchFamily="34" charset="-122"/>
                <a:cs typeface="Calibri" pitchFamily="34" charset="-120"/>
              </a:rPr>
              <a:t>Memory Usage — memory_usage_bytes (524,288,000 bytes)</a:t>
            </a:r>
            <a:endParaRPr lang="en-US" sz="1200" dirty="0"/>
          </a:p>
          <a:p>
            <a:pPr marL="177800" indent="-177800">
              <a:lnSpc>
                <a:spcPct val="110000"/>
              </a:lnSpc>
              <a:spcAft>
                <a:spcPts val="1200"/>
              </a:spcAft>
              <a:buSzPct val="100000"/>
              <a:buChar char="▪"/>
            </a:pPr>
            <a:r>
              <a:rPr lang="en-US" sz="1200" dirty="0">
                <a:solidFill>
                  <a:srgbClr val="16232E"/>
                </a:solidFill>
                <a:latin typeface="Calibri" pitchFamily="34" charset="0"/>
                <a:ea typeface="Calibri" pitchFamily="34" charset="-122"/>
                <a:cs typeface="Calibri" pitchFamily="34" charset="-120"/>
              </a:rPr>
              <a:t>Request Rate — request_rate (125)</a:t>
            </a:r>
            <a:endParaRPr lang="en-US" sz="1200" dirty="0"/>
          </a:p>
          <a:p>
            <a:pPr marL="177800" indent="-177800">
              <a:lnSpc>
                <a:spcPct val="110000"/>
              </a:lnSpc>
              <a:spcAft>
                <a:spcPts val="1200"/>
              </a:spcAft>
              <a:buSzPct val="100000"/>
              <a:buChar char="▪"/>
            </a:pPr>
            <a:r>
              <a:rPr lang="en-US" sz="1200" dirty="0">
                <a:solidFill>
                  <a:srgbClr val="16232E"/>
                </a:solidFill>
                <a:latin typeface="Calibri" pitchFamily="34" charset="0"/>
                <a:ea typeface="Calibri" pitchFamily="34" charset="-122"/>
                <a:cs typeface="Calibri" pitchFamily="34" charset="-120"/>
              </a:rPr>
              <a:t>Ingestion Rate — sum_over_time(ingestion_events_total)/60 ≈ 4 events/sec, matching 4 Vector pods × 1/sec</a:t>
            </a:r>
            <a:endParaRPr lang="en-US" sz="1200" dirty="0"/>
          </a:p>
        </p:txBody>
      </p:sp>
      <p:sp>
        <p:nvSpPr>
          <p:cNvPr id="14" name="Shape 12"/>
          <p:cNvSpPr/>
          <p:nvPr/>
        </p:nvSpPr>
        <p:spPr>
          <a:xfrm>
            <a:off x="502920" y="4709160"/>
            <a:ext cx="11155680" cy="1691640"/>
          </a:xfrm>
          <a:prstGeom prst="roundRect">
            <a:avLst>
              <a:gd name="adj" fmla="val 4324"/>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15" name="Shape 13"/>
          <p:cNvSpPr/>
          <p:nvPr/>
        </p:nvSpPr>
        <p:spPr>
          <a:xfrm>
            <a:off x="704088" y="4873752"/>
            <a:ext cx="978408" cy="292608"/>
          </a:xfrm>
          <a:prstGeom prst="roundRect">
            <a:avLst>
              <a:gd name="adj" fmla="val 18750"/>
            </a:avLst>
          </a:prstGeom>
          <a:solidFill>
            <a:srgbClr val="C1543A"/>
          </a:solidFill>
          <a:ln/>
        </p:spPr>
      </p:sp>
      <p:sp>
        <p:nvSpPr>
          <p:cNvPr id="16" name="Text 14"/>
          <p:cNvSpPr/>
          <p:nvPr/>
        </p:nvSpPr>
        <p:spPr>
          <a:xfrm>
            <a:off x="704088" y="48691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17" name="Text 15"/>
          <p:cNvSpPr/>
          <p:nvPr/>
        </p:nvSpPr>
        <p:spPr>
          <a:xfrm>
            <a:off x="704088" y="5202936"/>
            <a:ext cx="10753344" cy="357530"/>
          </a:xfrm>
          <a:prstGeom prst="rect">
            <a:avLst/>
          </a:prstGeom>
          <a:noFill/>
          <a:ln/>
        </p:spPr>
        <p:txBody>
          <a:bodyPr wrap="square" rtlCol="0" anchor="t"/>
          <a:lstStyle/>
          <a:p>
            <a:pPr indent="0" marL="0">
              <a:lnSpc>
                <a:spcPct val="110000"/>
              </a:lnSpc>
              <a:buNone/>
            </a:pPr>
            <a:r>
              <a:rPr lang="en-US" sz="1100" dirty="0">
                <a:solidFill>
                  <a:srgbClr val="16232E"/>
                </a:solidFill>
                <a:latin typeface="Calibri" pitchFamily="34" charset="0"/>
                <a:ea typeface="Calibri" pitchFamily="34" charset="-122"/>
                <a:cs typeface="Calibri" pitchFamily="34" charset="-120"/>
              </a:rPr>
              <a:t>An explicit histogram SQL query for the log-volume panel produced a 'Search SQL execute error' in OpenObserve.</a:t>
            </a:r>
            <a:endParaRPr lang="en-US" sz="1100" dirty="0"/>
          </a:p>
        </p:txBody>
      </p:sp>
      <p:sp>
        <p:nvSpPr>
          <p:cNvPr id="18" name="Shape 16"/>
          <p:cNvSpPr/>
          <p:nvPr/>
        </p:nvSpPr>
        <p:spPr>
          <a:xfrm>
            <a:off x="704088" y="5615330"/>
            <a:ext cx="576072" cy="292608"/>
          </a:xfrm>
          <a:prstGeom prst="roundRect">
            <a:avLst>
              <a:gd name="adj" fmla="val 18750"/>
            </a:avLst>
          </a:prstGeom>
          <a:solidFill>
            <a:srgbClr val="1C7293"/>
          </a:solidFill>
          <a:ln/>
        </p:spPr>
      </p:sp>
      <p:sp>
        <p:nvSpPr>
          <p:cNvPr id="19" name="Text 17"/>
          <p:cNvSpPr/>
          <p:nvPr/>
        </p:nvSpPr>
        <p:spPr>
          <a:xfrm>
            <a:off x="704088" y="5610758"/>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20" name="Text 18"/>
          <p:cNvSpPr/>
          <p:nvPr/>
        </p:nvSpPr>
        <p:spPr>
          <a:xfrm>
            <a:off x="704088" y="5962802"/>
            <a:ext cx="10753344" cy="419710"/>
          </a:xfrm>
          <a:prstGeom prst="rect">
            <a:avLst/>
          </a:prstGeom>
          <a:noFill/>
          <a:ln/>
        </p:spPr>
        <p:txBody>
          <a:bodyPr wrap="square" rtlCol="0" anchor="t"/>
          <a:lstStyle/>
          <a:p>
            <a:pPr indent="0" marL="0">
              <a:lnSpc>
                <a:spcPct val="110000"/>
              </a:lnSpc>
              <a:buNone/>
            </a:pPr>
            <a:r>
              <a:rPr lang="en-US" sz="1100" dirty="0">
                <a:solidFill>
                  <a:srgbClr val="16232E"/>
                </a:solidFill>
                <a:latin typeface="Calibri" pitchFamily="34" charset="0"/>
                <a:ea typeface="Calibri" pitchFamily="34" charset="-122"/>
                <a:cs typeface="Calibri" pitchFamily="34" charset="-120"/>
              </a:rPr>
              <a:t>Rather than continuing to fight the custom SQL, switched to OpenObserve's built-in Histogram functionality in the Logs UI / dashboard builder — same result, no fragile hand-written SQL to maintain.</a:t>
            </a:r>
            <a:endParaRPr lang="en-US" sz="1100" dirty="0"/>
          </a:p>
        </p:txBody>
      </p:sp>
      <p:sp>
        <p:nvSpPr>
          <p:cNvPr id="21" name="Text 1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2" name="Text 20"/>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VERSION CONTROL</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Git &amp; GitHub Challenges</a:t>
            </a:r>
            <a:endParaRPr lang="en-US" sz="3000" dirty="0"/>
          </a:p>
        </p:txBody>
      </p:sp>
      <p:sp>
        <p:nvSpPr>
          <p:cNvPr id="4" name="Shape 2"/>
          <p:cNvSpPr/>
          <p:nvPr/>
        </p:nvSpPr>
        <p:spPr>
          <a:xfrm>
            <a:off x="502920" y="1280160"/>
            <a:ext cx="5440680" cy="2651760"/>
          </a:xfrm>
          <a:prstGeom prst="roundRect">
            <a:avLst>
              <a:gd name="adj" fmla="val 2759"/>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5" name="Shape 3"/>
          <p:cNvSpPr/>
          <p:nvPr/>
        </p:nvSpPr>
        <p:spPr>
          <a:xfrm>
            <a:off x="704088" y="1444752"/>
            <a:ext cx="978408" cy="292608"/>
          </a:xfrm>
          <a:prstGeom prst="roundRect">
            <a:avLst>
              <a:gd name="adj" fmla="val 18750"/>
            </a:avLst>
          </a:prstGeom>
          <a:solidFill>
            <a:srgbClr val="C1543A"/>
          </a:solidFill>
          <a:ln/>
        </p:spPr>
      </p:sp>
      <p:sp>
        <p:nvSpPr>
          <p:cNvPr id="6" name="Text 4"/>
          <p:cNvSpPr/>
          <p:nvPr/>
        </p:nvSpPr>
        <p:spPr>
          <a:xfrm>
            <a:off x="704088" y="14401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7" name="Text 5"/>
          <p:cNvSpPr/>
          <p:nvPr/>
        </p:nvSpPr>
        <p:spPr>
          <a:xfrm>
            <a:off x="704088" y="1773936"/>
            <a:ext cx="5038344" cy="799186"/>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GitHub rejected normal password authentication over HTTPS (no longer supported). A Personal Access Token was created, but scoped only to 'Public repositories — Read-only', causing '403 Permission denied' on push.</a:t>
            </a:r>
            <a:endParaRPr lang="en-US" sz="1250" dirty="0"/>
          </a:p>
        </p:txBody>
      </p:sp>
      <p:sp>
        <p:nvSpPr>
          <p:cNvPr id="8" name="Shape 6"/>
          <p:cNvSpPr/>
          <p:nvPr/>
        </p:nvSpPr>
        <p:spPr>
          <a:xfrm>
            <a:off x="704088" y="2627986"/>
            <a:ext cx="576072" cy="292608"/>
          </a:xfrm>
          <a:prstGeom prst="roundRect">
            <a:avLst>
              <a:gd name="adj" fmla="val 18750"/>
            </a:avLst>
          </a:prstGeom>
          <a:solidFill>
            <a:srgbClr val="1C7293"/>
          </a:solidFill>
          <a:ln/>
        </p:spPr>
      </p:sp>
      <p:sp>
        <p:nvSpPr>
          <p:cNvPr id="9" name="Text 7"/>
          <p:cNvSpPr/>
          <p:nvPr/>
        </p:nvSpPr>
        <p:spPr>
          <a:xfrm>
            <a:off x="704088" y="2623414"/>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10" name="Text 8"/>
          <p:cNvSpPr/>
          <p:nvPr/>
        </p:nvSpPr>
        <p:spPr>
          <a:xfrm>
            <a:off x="704088" y="2975458"/>
            <a:ext cx="5038344" cy="938174"/>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Reconfigured the PAT with proper repository write access. After that, Git push/pull authenticated correctly over HTTPS.</a:t>
            </a:r>
            <a:endParaRPr lang="en-US" sz="1250" dirty="0"/>
          </a:p>
        </p:txBody>
      </p:sp>
      <p:sp>
        <p:nvSpPr>
          <p:cNvPr id="11" name="Shape 9"/>
          <p:cNvSpPr/>
          <p:nvPr/>
        </p:nvSpPr>
        <p:spPr>
          <a:xfrm>
            <a:off x="6217920" y="1280160"/>
            <a:ext cx="5440680" cy="2651760"/>
          </a:xfrm>
          <a:prstGeom prst="roundRect">
            <a:avLst>
              <a:gd name="adj" fmla="val 2759"/>
            </a:avLst>
          </a:prstGeom>
          <a:solidFill>
            <a:srgbClr val="FFFFFF"/>
          </a:solidFill>
          <a:ln w="12700">
            <a:solidFill>
              <a:srgbClr val="D8E3E9"/>
            </a:solidFill>
            <a:prstDash val="solid"/>
          </a:ln>
          <a:effectLst>
            <a:outerShdw sx="100000" sy="100000" kx="0" ky="0" algn="bl" rotWithShape="0" blurRad="76200" dist="25400" dir="5400000">
              <a:srgbClr val="3A4A55">
                <a:alpha val="18000"/>
              </a:srgbClr>
            </a:outerShdw>
          </a:effectLst>
        </p:spPr>
      </p:sp>
      <p:sp>
        <p:nvSpPr>
          <p:cNvPr id="12" name="Shape 10"/>
          <p:cNvSpPr/>
          <p:nvPr/>
        </p:nvSpPr>
        <p:spPr>
          <a:xfrm>
            <a:off x="6419088" y="1444752"/>
            <a:ext cx="978408" cy="292608"/>
          </a:xfrm>
          <a:prstGeom prst="roundRect">
            <a:avLst>
              <a:gd name="adj" fmla="val 18750"/>
            </a:avLst>
          </a:prstGeom>
          <a:solidFill>
            <a:srgbClr val="C1543A"/>
          </a:solidFill>
          <a:ln/>
        </p:spPr>
      </p:sp>
      <p:sp>
        <p:nvSpPr>
          <p:cNvPr id="13" name="Text 11"/>
          <p:cNvSpPr/>
          <p:nvPr/>
        </p:nvSpPr>
        <p:spPr>
          <a:xfrm>
            <a:off x="6419088" y="1440180"/>
            <a:ext cx="978408"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PROBLEM</a:t>
            </a:r>
            <a:endParaRPr lang="en-US" sz="1100" dirty="0"/>
          </a:p>
        </p:txBody>
      </p:sp>
      <p:sp>
        <p:nvSpPr>
          <p:cNvPr id="14" name="Text 12"/>
          <p:cNvSpPr/>
          <p:nvPr/>
        </p:nvSpPr>
        <p:spPr>
          <a:xfrm>
            <a:off x="6419088" y="1773936"/>
            <a:ext cx="5038344" cy="799186"/>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A later push was rejected: '! [rejected] main -&gt; main (non-fast-forward)' — local and origin/main had diverged, each with a commit the other didn't have.</a:t>
            </a:r>
            <a:endParaRPr lang="en-US" sz="1250" dirty="0"/>
          </a:p>
        </p:txBody>
      </p:sp>
      <p:sp>
        <p:nvSpPr>
          <p:cNvPr id="15" name="Shape 13"/>
          <p:cNvSpPr/>
          <p:nvPr/>
        </p:nvSpPr>
        <p:spPr>
          <a:xfrm>
            <a:off x="6419088" y="2627986"/>
            <a:ext cx="576072" cy="292608"/>
          </a:xfrm>
          <a:prstGeom prst="roundRect">
            <a:avLst>
              <a:gd name="adj" fmla="val 18750"/>
            </a:avLst>
          </a:prstGeom>
          <a:solidFill>
            <a:srgbClr val="1C7293"/>
          </a:solidFill>
          <a:ln/>
        </p:spPr>
      </p:sp>
      <p:sp>
        <p:nvSpPr>
          <p:cNvPr id="16" name="Text 14"/>
          <p:cNvSpPr/>
          <p:nvPr/>
        </p:nvSpPr>
        <p:spPr>
          <a:xfrm>
            <a:off x="6419088" y="2623414"/>
            <a:ext cx="576072" cy="301752"/>
          </a:xfrm>
          <a:prstGeom prst="rect">
            <a:avLst/>
          </a:prstGeom>
          <a:noFill/>
          <a:ln/>
        </p:spPr>
        <p:txBody>
          <a:bodyPr wrap="non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FIX</a:t>
            </a:r>
            <a:endParaRPr lang="en-US" sz="1100" dirty="0"/>
          </a:p>
        </p:txBody>
      </p:sp>
      <p:sp>
        <p:nvSpPr>
          <p:cNvPr id="17" name="Text 15"/>
          <p:cNvSpPr/>
          <p:nvPr/>
        </p:nvSpPr>
        <p:spPr>
          <a:xfrm>
            <a:off x="6419088" y="2975458"/>
            <a:ext cx="5038344" cy="938174"/>
          </a:xfrm>
          <a:prstGeom prst="rect">
            <a:avLst/>
          </a:prstGeom>
          <a:noFill/>
          <a:ln/>
        </p:spPr>
        <p:txBody>
          <a:bodyPr wrap="square" rtlCol="0" anchor="t"/>
          <a:lstStyle/>
          <a:p>
            <a:pPr indent="0" marL="0">
              <a:lnSpc>
                <a:spcPct val="110000"/>
              </a:lnSpc>
              <a:buNone/>
            </a:pPr>
            <a:r>
              <a:rPr lang="en-US" sz="1250" dirty="0">
                <a:solidFill>
                  <a:srgbClr val="16232E"/>
                </a:solidFill>
                <a:latin typeface="Calibri" pitchFamily="34" charset="0"/>
                <a:ea typeface="Calibri" pitchFamily="34" charset="-122"/>
                <a:cs typeface="Calibri" pitchFamily="34" charset="-120"/>
              </a:rPr>
              <a:t>Rather than force-pushing (which would have discarded history), merged with 'git pull origin main --no-rebase --allow-unrelated-histories', resolved the merge commit, and pushed successfully (b5d8e61..bf83172 main -&gt; main).</a:t>
            </a:r>
            <a:endParaRPr lang="en-US" sz="1250" dirty="0"/>
          </a:p>
        </p:txBody>
      </p:sp>
      <p:sp>
        <p:nvSpPr>
          <p:cNvPr id="18" name="Shape 16"/>
          <p:cNvSpPr/>
          <p:nvPr/>
        </p:nvSpPr>
        <p:spPr>
          <a:xfrm>
            <a:off x="502920" y="4160520"/>
            <a:ext cx="11155680" cy="1965960"/>
          </a:xfrm>
          <a:prstGeom prst="roundRect">
            <a:avLst>
              <a:gd name="adj" fmla="val 3721"/>
            </a:avLst>
          </a:prstGeom>
          <a:solidFill>
            <a:srgbClr val="0B3245"/>
          </a:solidFill>
          <a:ln/>
        </p:spPr>
      </p:sp>
      <p:sp>
        <p:nvSpPr>
          <p:cNvPr id="19" name="Text 17"/>
          <p:cNvSpPr/>
          <p:nvPr/>
        </p:nvSpPr>
        <p:spPr>
          <a:xfrm>
            <a:off x="777240" y="4343400"/>
            <a:ext cx="1060704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Repository housekeeping</a:t>
            </a:r>
            <a:endParaRPr lang="en-US" sz="1400" dirty="0"/>
          </a:p>
        </p:txBody>
      </p:sp>
      <p:sp>
        <p:nvSpPr>
          <p:cNvPr id="20" name="Text 18"/>
          <p:cNvSpPr/>
          <p:nvPr/>
        </p:nvSpPr>
        <p:spPr>
          <a:xfrm>
            <a:off x="777240" y="4663440"/>
            <a:ext cx="10607040" cy="1371600"/>
          </a:xfrm>
          <a:prstGeom prst="rect">
            <a:avLst/>
          </a:prstGeom>
          <a:noFill/>
          <a:ln/>
        </p:spPr>
        <p:txBody>
          <a:bodyPr wrap="square" rtlCol="0" anchor="t"/>
          <a:lstStyle/>
          <a:p>
            <a:pPr marL="177800" indent="-177800">
              <a:lnSpc>
                <a:spcPct val="110000"/>
              </a:lnSpc>
              <a:spcAft>
                <a:spcPts val="1000"/>
              </a:spcAft>
              <a:buSzPct val="100000"/>
              <a:buChar char="▪"/>
            </a:pPr>
            <a:r>
              <a:rPr lang="en-US" sz="1200" dirty="0">
                <a:solidFill>
                  <a:srgbClr val="D6E5EA"/>
                </a:solidFill>
                <a:latin typeface="Calibri" pitchFamily="34" charset="0"/>
                <a:ea typeface="Calibri" pitchFamily="34" charset="-122"/>
                <a:cs typeface="Calibri" pitchFamily="34" charset="-120"/>
              </a:rPr>
              <a:t>terraform.tfstate is normally .gitignore'd for security — but the assignment explicitly required it, so it was force-added with 'git add -f terraform.tfstate' and committed deliberately (terraform.tfstate.backup was left out)</a:t>
            </a:r>
            <a:endParaRPr lang="en-US" sz="1200" dirty="0"/>
          </a:p>
          <a:p>
            <a:pPr marL="177800" indent="-177800">
              <a:lnSpc>
                <a:spcPct val="110000"/>
              </a:lnSpc>
              <a:spcAft>
                <a:spcPts val="1000"/>
              </a:spcAft>
              <a:buSzPct val="100000"/>
              <a:buChar char="▪"/>
            </a:pPr>
            <a:r>
              <a:rPr lang="en-US" sz="1200" dirty="0">
                <a:solidFill>
                  <a:srgbClr val="D6E5EA"/>
                </a:solidFill>
                <a:latin typeface="Calibri" pitchFamily="34" charset="0"/>
                <a:ea typeface="Calibri" pitchFamily="34" charset="-122"/>
                <a:cs typeface="Calibri" pitchFamily="34" charset="-120"/>
              </a:rPr>
              <a:t>Repo scanned with grep for password:/secret:/access_key/token: patterns before pushing, excluding the state file and .terraform/</a:t>
            </a:r>
            <a:endParaRPr lang="en-US" sz="1200" dirty="0"/>
          </a:p>
        </p:txBody>
      </p:sp>
      <p:sp>
        <p:nvSpPr>
          <p:cNvPr id="21" name="Text 19"/>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22" name="Text 20"/>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9FB"/>
        </a:solidFill>
      </p:bgPr>
    </p:bg>
    <p:spTree>
      <p:nvGrpSpPr>
        <p:cNvPr id="1" name=""/>
        <p:cNvGrpSpPr/>
        <p:nvPr/>
      </p:nvGrpSpPr>
      <p:grpSpPr>
        <a:xfrm>
          <a:off x="0" y="0"/>
          <a:ext cx="0" cy="0"/>
          <a:chOff x="0" y="0"/>
          <a:chExt cx="0" cy="0"/>
        </a:xfrm>
      </p:grpSpPr>
      <p:sp>
        <p:nvSpPr>
          <p:cNvPr id="2" name="Text 0"/>
          <p:cNvSpPr/>
          <p:nvPr/>
        </p:nvSpPr>
        <p:spPr>
          <a:xfrm>
            <a:off x="502920" y="320040"/>
            <a:ext cx="9144000" cy="274320"/>
          </a:xfrm>
          <a:prstGeom prst="rect">
            <a:avLst/>
          </a:prstGeom>
          <a:noFill/>
          <a:ln/>
        </p:spPr>
        <p:txBody>
          <a:bodyPr wrap="square"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VALIDATING WITHOUT OVERSPENDING</a:t>
            </a:r>
            <a:endParaRPr lang="en-US" sz="1200" dirty="0"/>
          </a:p>
        </p:txBody>
      </p:sp>
      <p:sp>
        <p:nvSpPr>
          <p:cNvPr id="3" name="Text 1"/>
          <p:cNvSpPr/>
          <p:nvPr/>
        </p:nvSpPr>
        <p:spPr>
          <a:xfrm>
            <a:off x="502920" y="566928"/>
            <a:ext cx="11155680" cy="640080"/>
          </a:xfrm>
          <a:prstGeom prst="rect">
            <a:avLst/>
          </a:prstGeom>
          <a:noFill/>
          <a:ln/>
        </p:spPr>
        <p:txBody>
          <a:bodyPr wrap="square" rtlCol="0" anchor="ctr"/>
          <a:lstStyle/>
          <a:p>
            <a:pPr indent="0" marL="0">
              <a:buNone/>
            </a:pPr>
            <a:r>
              <a:rPr lang="en-US" sz="3000" b="1" dirty="0">
                <a:solidFill>
                  <a:srgbClr val="0B3245"/>
                </a:solidFill>
                <a:latin typeface="Cambria" pitchFamily="34" charset="0"/>
                <a:ea typeface="Cambria" pitchFamily="34" charset="-122"/>
                <a:cs typeface="Cambria" pitchFamily="34" charset="-120"/>
              </a:rPr>
              <a:t>Cost-Conscious Design</a:t>
            </a:r>
            <a:endParaRPr lang="en-US" sz="3000" dirty="0"/>
          </a:p>
        </p:txBody>
      </p:sp>
      <p:sp>
        <p:nvSpPr>
          <p:cNvPr id="4" name="Text 2"/>
          <p:cNvSpPr/>
          <p:nvPr/>
        </p:nvSpPr>
        <p:spPr>
          <a:xfrm>
            <a:off x="502920" y="1234440"/>
            <a:ext cx="11155680" cy="594360"/>
          </a:xfrm>
          <a:prstGeom prst="rect">
            <a:avLst/>
          </a:prstGeom>
          <a:noFill/>
          <a:ln/>
        </p:spPr>
        <p:txBody>
          <a:bodyPr wrap="square" rtlCol="0" anchor="ctr"/>
          <a:lstStyle/>
          <a:p>
            <a:pPr indent="0" marL="0">
              <a:lnSpc>
                <a:spcPct val="120000"/>
              </a:lnSpc>
              <a:buNone/>
            </a:pPr>
            <a:r>
              <a:rPr lang="en-US" sz="1300" dirty="0">
                <a:solidFill>
                  <a:srgbClr val="5C7080"/>
                </a:solidFill>
                <a:latin typeface="Calibri" pitchFamily="34" charset="0"/>
                <a:ea typeface="Calibri" pitchFamily="34" charset="-122"/>
                <a:cs typeface="Calibri" pitchFamily="34" charset="-120"/>
              </a:rPr>
              <a:t>The assignment called for ~5 GB/hour of logs and ~5 GB/hour of metrics. Running that continuously would have driven up AWS and OpenObserve costs unnecessarily during development.</a:t>
            </a:r>
            <a:endParaRPr lang="en-US" sz="1300" dirty="0"/>
          </a:p>
        </p:txBody>
      </p:sp>
      <p:sp>
        <p:nvSpPr>
          <p:cNvPr id="5" name="Shape 3"/>
          <p:cNvSpPr/>
          <p:nvPr/>
        </p:nvSpPr>
        <p:spPr>
          <a:xfrm>
            <a:off x="502920" y="1965960"/>
            <a:ext cx="3566160" cy="1691640"/>
          </a:xfrm>
          <a:prstGeom prst="roundRect">
            <a:avLst>
              <a:gd name="adj" fmla="val 4324"/>
            </a:avLst>
          </a:prstGeom>
          <a:solidFill>
            <a:srgbClr val="1C7293"/>
          </a:solidFill>
          <a:ln/>
        </p:spPr>
      </p:sp>
      <p:sp>
        <p:nvSpPr>
          <p:cNvPr id="6" name="Text 4"/>
          <p:cNvSpPr/>
          <p:nvPr/>
        </p:nvSpPr>
        <p:spPr>
          <a:xfrm>
            <a:off x="502920" y="2103120"/>
            <a:ext cx="3566160" cy="82296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7" name="Text 5"/>
          <p:cNvSpPr/>
          <p:nvPr/>
        </p:nvSpPr>
        <p:spPr>
          <a:xfrm>
            <a:off x="685800" y="2880360"/>
            <a:ext cx="3200400" cy="731520"/>
          </a:xfrm>
          <a:prstGeom prst="rect">
            <a:avLst/>
          </a:prstGeom>
          <a:noFill/>
          <a:ln/>
        </p:spPr>
        <p:txBody>
          <a:bodyPr wrap="square" rtlCol="0" anchor="ctr"/>
          <a:lstStyle/>
          <a:p>
            <a:pPr algn="ctr" indent="0" marL="0">
              <a:lnSpc>
                <a:spcPct val="115000"/>
              </a:lnSpc>
              <a:buNone/>
            </a:pPr>
            <a:r>
              <a:rPr lang="en-US" sz="1150" dirty="0">
                <a:solidFill>
                  <a:srgbClr val="E4F4F1"/>
                </a:solidFill>
                <a:latin typeface="Calibri" pitchFamily="34" charset="0"/>
                <a:ea typeface="Calibri" pitchFamily="34" charset="-122"/>
                <a:cs typeface="Calibri" pitchFamily="34" charset="-120"/>
              </a:rPr>
              <a:t>events/sec generated</a:t>
            </a:r>
            <a:endParaRPr lang="en-US" sz="1150" dirty="0"/>
          </a:p>
          <a:p>
            <a:pPr algn="ctr" indent="0" marL="0">
              <a:lnSpc>
                <a:spcPct val="115000"/>
              </a:lnSpc>
              <a:buNone/>
            </a:pPr>
            <a:r>
              <a:rPr lang="en-US" sz="1150" dirty="0">
                <a:solidFill>
                  <a:srgbClr val="E4F4F1"/>
                </a:solidFill>
                <a:latin typeface="Calibri" pitchFamily="34" charset="0"/>
                <a:ea typeface="Calibri" pitchFamily="34" charset="-122"/>
                <a:cs typeface="Calibri" pitchFamily="34" charset="-120"/>
              </a:rPr>
              <a:t>(4 pods × 1/sec) — proved the</a:t>
            </a:r>
            <a:endParaRPr lang="en-US" sz="1150" dirty="0"/>
          </a:p>
          <a:p>
            <a:pPr algn="ctr" indent="0" marL="0">
              <a:lnSpc>
                <a:spcPct val="115000"/>
              </a:lnSpc>
              <a:buNone/>
            </a:pPr>
            <a:r>
              <a:rPr lang="en-US" sz="1150" dirty="0">
                <a:solidFill>
                  <a:srgbClr val="E4F4F1"/>
                </a:solidFill>
                <a:latin typeface="Calibri" pitchFamily="34" charset="0"/>
                <a:ea typeface="Calibri" pitchFamily="34" charset="-122"/>
                <a:cs typeface="Calibri" pitchFamily="34" charset="-120"/>
              </a:rPr>
              <a:t>pipeline end to end at a</a:t>
            </a:r>
            <a:endParaRPr lang="en-US" sz="1150" dirty="0"/>
          </a:p>
          <a:p>
            <a:pPr algn="ctr" indent="0" marL="0">
              <a:lnSpc>
                <a:spcPct val="115000"/>
              </a:lnSpc>
              <a:buNone/>
            </a:pPr>
            <a:r>
              <a:rPr lang="en-US" sz="1150" dirty="0">
                <a:solidFill>
                  <a:srgbClr val="E4F4F1"/>
                </a:solidFill>
                <a:latin typeface="Calibri" pitchFamily="34" charset="0"/>
                <a:ea typeface="Calibri" pitchFamily="34" charset="-122"/>
                <a:cs typeface="Calibri" pitchFamily="34" charset="-120"/>
              </a:rPr>
              <a:t>controlled, low-cost rate</a:t>
            </a:r>
            <a:endParaRPr lang="en-US" sz="1150" dirty="0"/>
          </a:p>
        </p:txBody>
      </p:sp>
      <p:sp>
        <p:nvSpPr>
          <p:cNvPr id="8" name="Text 6"/>
          <p:cNvSpPr/>
          <p:nvPr/>
        </p:nvSpPr>
        <p:spPr>
          <a:xfrm>
            <a:off x="4343400" y="1965960"/>
            <a:ext cx="7315200" cy="4023360"/>
          </a:xfrm>
          <a:prstGeom prst="rect">
            <a:avLst/>
          </a:prstGeom>
          <a:noFill/>
          <a:ln/>
        </p:spPr>
        <p:txBody>
          <a:bodyPr wrap="square" rtlCol="0" anchor="t"/>
          <a:lstStyle/>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Used t3.small nodes rather than larger, costlier instances</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Worker nodes kept in private subnets — no unnecessary public exposure</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Ran only 4 nodes, sized for the assignment / testing, not production scale</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Destroyed the AWS infrastructure once between work sessions to stop charges, then recreated it to continue</a:t>
            </a:r>
            <a:endParaRPr lang="en-US" sz="1300" dirty="0"/>
          </a:p>
          <a:p>
            <a:pPr marL="177800" indent="-177800">
              <a:lnSpc>
                <a:spcPct val="110000"/>
              </a:lnSpc>
              <a:spcAft>
                <a:spcPts val="1300"/>
              </a:spcAft>
              <a:buSzPct val="100000"/>
              <a:buChar char="▪"/>
            </a:pPr>
            <a:r>
              <a:rPr lang="en-US" sz="1300" dirty="0">
                <a:solidFill>
                  <a:srgbClr val="16232E"/>
                </a:solidFill>
                <a:latin typeface="Calibri" pitchFamily="34" charset="0"/>
                <a:ea typeface="Calibri" pitchFamily="34" charset="-122"/>
                <a:cs typeface="Calibri" pitchFamily="34" charset="-120"/>
              </a:rPr>
              <a:t>Kept dummy data generation at a controlled rate instead of the full 5 GB/hour spec</a:t>
            </a:r>
            <a:endParaRPr lang="en-US" sz="1300" dirty="0"/>
          </a:p>
        </p:txBody>
      </p:sp>
      <p:sp>
        <p:nvSpPr>
          <p:cNvPr id="9" name="Text 7"/>
          <p:cNvSpPr/>
          <p:nvPr/>
        </p:nvSpPr>
        <p:spPr>
          <a:xfrm>
            <a:off x="457200" y="6547104"/>
            <a:ext cx="7315200" cy="256032"/>
          </a:xfrm>
          <a:prstGeom prst="rect">
            <a:avLst/>
          </a:prstGeom>
          <a:noFill/>
          <a:ln/>
        </p:spPr>
        <p:txBody>
          <a:bodyPr wrap="square" rtlCol="0" anchor="ctr"/>
          <a:lstStyle/>
          <a:p>
            <a:pPr algn="l" indent="0" marL="0">
              <a:buNone/>
            </a:pPr>
            <a:r>
              <a:rPr lang="en-US" sz="900" dirty="0">
                <a:solidFill>
                  <a:srgbClr val="5C7080"/>
                </a:solidFill>
                <a:latin typeface="Calibri" pitchFamily="34" charset="0"/>
                <a:ea typeface="Calibri" pitchFamily="34" charset="-122"/>
                <a:cs typeface="Calibri" pitchFamily="34" charset="-120"/>
              </a:rPr>
              <a:t>Kubernetes Observability Pipeline</a:t>
            </a:r>
            <a:endParaRPr lang="en-US" sz="900" dirty="0"/>
          </a:p>
        </p:txBody>
      </p:sp>
      <p:sp>
        <p:nvSpPr>
          <p:cNvPr id="10" name="Text 8"/>
          <p:cNvSpPr/>
          <p:nvPr/>
        </p:nvSpPr>
        <p:spPr>
          <a:xfrm>
            <a:off x="11457432" y="6547104"/>
            <a:ext cx="365760" cy="256032"/>
          </a:xfrm>
          <a:prstGeom prst="rect">
            <a:avLst/>
          </a:prstGeom>
          <a:noFill/>
          <a:ln/>
        </p:spPr>
        <p:txBody>
          <a:bodyPr wrap="square"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245"/>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rtlCol="0" anchor="ctr"/>
          <a:lstStyle/>
          <a:p>
            <a:pPr indent="0" marL="0">
              <a:buNone/>
            </a:pPr>
            <a:r>
              <a:rPr lang="en-US" sz="1250" b="1" spc="200" kern="0" dirty="0">
                <a:solidFill>
                  <a:srgbClr val="F2A65A"/>
                </a:solidFill>
                <a:latin typeface="Calibri" pitchFamily="34" charset="0"/>
                <a:ea typeface="Calibri" pitchFamily="34" charset="-122"/>
                <a:cs typeface="Calibri" pitchFamily="34" charset="-120"/>
              </a:rPr>
              <a:t>KEY TAKEAWAYS FOR THE INTERVIEW</a:t>
            </a:r>
            <a:endParaRPr lang="en-US" sz="1250" dirty="0"/>
          </a:p>
        </p:txBody>
      </p:sp>
      <p:sp>
        <p:nvSpPr>
          <p:cNvPr id="3" name="Text 1"/>
          <p:cNvSpPr/>
          <p:nvPr/>
        </p:nvSpPr>
        <p:spPr>
          <a:xfrm>
            <a:off x="502920" y="777240"/>
            <a:ext cx="100584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Problems Solved — The Recap</a:t>
            </a:r>
            <a:endParaRPr lang="en-US" sz="2800" dirty="0"/>
          </a:p>
        </p:txBody>
      </p:sp>
      <p:sp>
        <p:nvSpPr>
          <p:cNvPr id="4" name="Shape 2"/>
          <p:cNvSpPr/>
          <p:nvPr/>
        </p:nvSpPr>
        <p:spPr>
          <a:xfrm>
            <a:off x="502920" y="1600200"/>
            <a:ext cx="3657600" cy="1417320"/>
          </a:xfrm>
          <a:prstGeom prst="roundRect">
            <a:avLst>
              <a:gd name="adj" fmla="val 5161"/>
            </a:avLst>
          </a:prstGeom>
          <a:solidFill>
            <a:srgbClr val="0D3A52"/>
          </a:solidFill>
          <a:ln w="12700">
            <a:solidFill>
              <a:srgbClr val="1E4E66"/>
            </a:solidFill>
            <a:prstDash val="solid"/>
          </a:ln>
        </p:spPr>
      </p:sp>
      <p:sp>
        <p:nvSpPr>
          <p:cNvPr id="5" name="Text 3"/>
          <p:cNvSpPr/>
          <p:nvPr/>
        </p:nvSpPr>
        <p:spPr>
          <a:xfrm>
            <a:off x="685800" y="172821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WSL2 setup</a:t>
            </a:r>
            <a:endParaRPr lang="en-US" sz="1250" dirty="0"/>
          </a:p>
        </p:txBody>
      </p:sp>
      <p:sp>
        <p:nvSpPr>
          <p:cNvPr id="6" name="Text 4"/>
          <p:cNvSpPr/>
          <p:nvPr/>
        </p:nvSpPr>
        <p:spPr>
          <a:xfrm>
            <a:off x="685800" y="203911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No distro installed → installed &amp; configured Ubuntu on WSL2</a:t>
            </a:r>
            <a:endParaRPr lang="en-US" sz="1080" dirty="0"/>
          </a:p>
        </p:txBody>
      </p:sp>
      <p:sp>
        <p:nvSpPr>
          <p:cNvPr id="7" name="Shape 5"/>
          <p:cNvSpPr/>
          <p:nvPr/>
        </p:nvSpPr>
        <p:spPr>
          <a:xfrm>
            <a:off x="4297680" y="1600200"/>
            <a:ext cx="3657600" cy="1417320"/>
          </a:xfrm>
          <a:prstGeom prst="roundRect">
            <a:avLst>
              <a:gd name="adj" fmla="val 5161"/>
            </a:avLst>
          </a:prstGeom>
          <a:solidFill>
            <a:srgbClr val="0D3A52"/>
          </a:solidFill>
          <a:ln w="12700">
            <a:solidFill>
              <a:srgbClr val="1E4E66"/>
            </a:solidFill>
            <a:prstDash val="solid"/>
          </a:ln>
        </p:spPr>
      </p:sp>
      <p:sp>
        <p:nvSpPr>
          <p:cNvPr id="8" name="Text 6"/>
          <p:cNvSpPr/>
          <p:nvPr/>
        </p:nvSpPr>
        <p:spPr>
          <a:xfrm>
            <a:off x="4480560" y="172821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Node sizing</a:t>
            </a:r>
            <a:endParaRPr lang="en-US" sz="1250" dirty="0"/>
          </a:p>
        </p:txBody>
      </p:sp>
      <p:sp>
        <p:nvSpPr>
          <p:cNvPr id="9" name="Text 7"/>
          <p:cNvSpPr/>
          <p:nvPr/>
        </p:nvSpPr>
        <p:spPr>
          <a:xfrm>
            <a:off x="4480560" y="203911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t3.micro too small → moved to t3.small</a:t>
            </a:r>
            <a:endParaRPr lang="en-US" sz="1080" dirty="0"/>
          </a:p>
        </p:txBody>
      </p:sp>
      <p:sp>
        <p:nvSpPr>
          <p:cNvPr id="10" name="Shape 8"/>
          <p:cNvSpPr/>
          <p:nvPr/>
        </p:nvSpPr>
        <p:spPr>
          <a:xfrm>
            <a:off x="8092440" y="1600200"/>
            <a:ext cx="3657600" cy="1417320"/>
          </a:xfrm>
          <a:prstGeom prst="roundRect">
            <a:avLst>
              <a:gd name="adj" fmla="val 5161"/>
            </a:avLst>
          </a:prstGeom>
          <a:solidFill>
            <a:srgbClr val="0D3A52"/>
          </a:solidFill>
          <a:ln w="12700">
            <a:solidFill>
              <a:srgbClr val="1E4E66"/>
            </a:solidFill>
            <a:prstDash val="solid"/>
          </a:ln>
        </p:spPr>
      </p:sp>
      <p:sp>
        <p:nvSpPr>
          <p:cNvPr id="11" name="Text 9"/>
          <p:cNvSpPr/>
          <p:nvPr/>
        </p:nvSpPr>
        <p:spPr>
          <a:xfrm>
            <a:off x="8275320" y="172821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Helm timeout</a:t>
            </a:r>
            <a:endParaRPr lang="en-US" sz="1250" dirty="0"/>
          </a:p>
        </p:txBody>
      </p:sp>
      <p:sp>
        <p:nvSpPr>
          <p:cNvPr id="12" name="Text 10"/>
          <p:cNvSpPr/>
          <p:nvPr/>
        </p:nvSpPr>
        <p:spPr>
          <a:xfrm>
            <a:off x="8275320" y="203911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Repo download timed out → 'helm pull' locally, then installed from the .tgz</a:t>
            </a:r>
            <a:endParaRPr lang="en-US" sz="1080" dirty="0"/>
          </a:p>
        </p:txBody>
      </p:sp>
      <p:sp>
        <p:nvSpPr>
          <p:cNvPr id="13" name="Shape 11"/>
          <p:cNvSpPr/>
          <p:nvPr/>
        </p:nvSpPr>
        <p:spPr>
          <a:xfrm>
            <a:off x="502920" y="3154680"/>
            <a:ext cx="3657600" cy="1417320"/>
          </a:xfrm>
          <a:prstGeom prst="roundRect">
            <a:avLst>
              <a:gd name="adj" fmla="val 5161"/>
            </a:avLst>
          </a:prstGeom>
          <a:solidFill>
            <a:srgbClr val="0D3A52"/>
          </a:solidFill>
          <a:ln w="12700">
            <a:solidFill>
              <a:srgbClr val="1E4E66"/>
            </a:solidFill>
            <a:prstDash val="solid"/>
          </a:ln>
        </p:spPr>
      </p:sp>
      <p:sp>
        <p:nvSpPr>
          <p:cNvPr id="14" name="Text 12"/>
          <p:cNvSpPr/>
          <p:nvPr/>
        </p:nvSpPr>
        <p:spPr>
          <a:xfrm>
            <a:off x="685800" y="328269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Vector feedback loop</a:t>
            </a:r>
            <a:endParaRPr lang="en-US" sz="1250" dirty="0"/>
          </a:p>
        </p:txBody>
      </p:sp>
      <p:sp>
        <p:nvSpPr>
          <p:cNvPr id="15" name="Text 13"/>
          <p:cNvSpPr/>
          <p:nvPr/>
        </p:nvSpPr>
        <p:spPr>
          <a:xfrm>
            <a:off x="685800" y="359359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Vector re-scraping OpenObserve's own logs → excluded namespace via vector.dev/exclude=true</a:t>
            </a:r>
            <a:endParaRPr lang="en-US" sz="1080" dirty="0"/>
          </a:p>
        </p:txBody>
      </p:sp>
      <p:sp>
        <p:nvSpPr>
          <p:cNvPr id="16" name="Shape 14"/>
          <p:cNvSpPr/>
          <p:nvPr/>
        </p:nvSpPr>
        <p:spPr>
          <a:xfrm>
            <a:off x="4297680" y="3154680"/>
            <a:ext cx="3657600" cy="1417320"/>
          </a:xfrm>
          <a:prstGeom prst="roundRect">
            <a:avLst>
              <a:gd name="adj" fmla="val 5161"/>
            </a:avLst>
          </a:prstGeom>
          <a:solidFill>
            <a:srgbClr val="0D3A52"/>
          </a:solidFill>
          <a:ln w="12700">
            <a:solidFill>
              <a:srgbClr val="1E4E66"/>
            </a:solidFill>
            <a:prstDash val="solid"/>
          </a:ln>
        </p:spPr>
      </p:sp>
      <p:sp>
        <p:nvSpPr>
          <p:cNvPr id="17" name="Text 15"/>
          <p:cNvSpPr/>
          <p:nvPr/>
        </p:nvSpPr>
        <p:spPr>
          <a:xfrm>
            <a:off x="4480560" y="328269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Metrics 400 errors</a:t>
            </a:r>
            <a:endParaRPr lang="en-US" sz="1250" dirty="0"/>
          </a:p>
        </p:txBody>
      </p:sp>
      <p:sp>
        <p:nvSpPr>
          <p:cNvPr id="18" name="Text 16"/>
          <p:cNvSpPr/>
          <p:nvPr/>
        </p:nvSpPr>
        <p:spPr>
          <a:xfrm>
            <a:off x="4480560" y="359359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Wrong ingestion shape → added metric_to_log + metadata normalization</a:t>
            </a:r>
            <a:endParaRPr lang="en-US" sz="1080" dirty="0"/>
          </a:p>
        </p:txBody>
      </p:sp>
      <p:sp>
        <p:nvSpPr>
          <p:cNvPr id="19" name="Shape 17"/>
          <p:cNvSpPr/>
          <p:nvPr/>
        </p:nvSpPr>
        <p:spPr>
          <a:xfrm>
            <a:off x="8092440" y="3154680"/>
            <a:ext cx="3657600" cy="1417320"/>
          </a:xfrm>
          <a:prstGeom prst="roundRect">
            <a:avLst>
              <a:gd name="adj" fmla="val 5161"/>
            </a:avLst>
          </a:prstGeom>
          <a:solidFill>
            <a:srgbClr val="0D3A52"/>
          </a:solidFill>
          <a:ln w="12700">
            <a:solidFill>
              <a:srgbClr val="1E4E66"/>
            </a:solidFill>
            <a:prstDash val="solid"/>
          </a:ln>
        </p:spPr>
      </p:sp>
      <p:sp>
        <p:nvSpPr>
          <p:cNvPr id="20" name="Text 18"/>
          <p:cNvSpPr/>
          <p:nvPr/>
        </p:nvSpPr>
        <p:spPr>
          <a:xfrm>
            <a:off x="8275320" y="328269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Misplaced VRL</a:t>
            </a:r>
            <a:endParaRPr lang="en-US" sz="1250" dirty="0"/>
          </a:p>
        </p:txBody>
      </p:sp>
      <p:sp>
        <p:nvSpPr>
          <p:cNvPr id="21" name="Text 19"/>
          <p:cNvSpPr/>
          <p:nvPr/>
        </p:nvSpPr>
        <p:spPr>
          <a:xfrm>
            <a:off x="8275320" y="359359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'parse_json expected string got null' → found via 'vector tap', separated the two pipelines</a:t>
            </a:r>
            <a:endParaRPr lang="en-US" sz="1080" dirty="0"/>
          </a:p>
        </p:txBody>
      </p:sp>
      <p:sp>
        <p:nvSpPr>
          <p:cNvPr id="22" name="Shape 20"/>
          <p:cNvSpPr/>
          <p:nvPr/>
        </p:nvSpPr>
        <p:spPr>
          <a:xfrm>
            <a:off x="502920" y="4709160"/>
            <a:ext cx="3657600" cy="1417320"/>
          </a:xfrm>
          <a:prstGeom prst="roundRect">
            <a:avLst>
              <a:gd name="adj" fmla="val 5161"/>
            </a:avLst>
          </a:prstGeom>
          <a:solidFill>
            <a:srgbClr val="0D3A52"/>
          </a:solidFill>
          <a:ln w="12700">
            <a:solidFill>
              <a:srgbClr val="1E4E66"/>
            </a:solidFill>
            <a:prstDash val="solid"/>
          </a:ln>
        </p:spPr>
      </p:sp>
      <p:sp>
        <p:nvSpPr>
          <p:cNvPr id="23" name="Text 21"/>
          <p:cNvSpPr/>
          <p:nvPr/>
        </p:nvSpPr>
        <p:spPr>
          <a:xfrm>
            <a:off x="685800" y="483717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Histogram SQL error</a:t>
            </a:r>
            <a:endParaRPr lang="en-US" sz="1250" dirty="0"/>
          </a:p>
        </p:txBody>
      </p:sp>
      <p:sp>
        <p:nvSpPr>
          <p:cNvPr id="24" name="Text 22"/>
          <p:cNvSpPr/>
          <p:nvPr/>
        </p:nvSpPr>
        <p:spPr>
          <a:xfrm>
            <a:off x="685800" y="514807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Custom SQL failed → used OpenObserve's built-in Histogram feature</a:t>
            </a:r>
            <a:endParaRPr lang="en-US" sz="1080" dirty="0"/>
          </a:p>
        </p:txBody>
      </p:sp>
      <p:sp>
        <p:nvSpPr>
          <p:cNvPr id="25" name="Shape 23"/>
          <p:cNvSpPr/>
          <p:nvPr/>
        </p:nvSpPr>
        <p:spPr>
          <a:xfrm>
            <a:off x="4297680" y="4709160"/>
            <a:ext cx="3657600" cy="1417320"/>
          </a:xfrm>
          <a:prstGeom prst="roundRect">
            <a:avLst>
              <a:gd name="adj" fmla="val 5161"/>
            </a:avLst>
          </a:prstGeom>
          <a:solidFill>
            <a:srgbClr val="0D3A52"/>
          </a:solidFill>
          <a:ln w="12700">
            <a:solidFill>
              <a:srgbClr val="1E4E66"/>
            </a:solidFill>
            <a:prstDash val="solid"/>
          </a:ln>
        </p:spPr>
      </p:sp>
      <p:sp>
        <p:nvSpPr>
          <p:cNvPr id="26" name="Text 24"/>
          <p:cNvSpPr/>
          <p:nvPr/>
        </p:nvSpPr>
        <p:spPr>
          <a:xfrm>
            <a:off x="4480560" y="483717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GitHub 403</a:t>
            </a:r>
            <a:endParaRPr lang="en-US" sz="1250" dirty="0"/>
          </a:p>
        </p:txBody>
      </p:sp>
      <p:sp>
        <p:nvSpPr>
          <p:cNvPr id="27" name="Text 25"/>
          <p:cNvSpPr/>
          <p:nvPr/>
        </p:nvSpPr>
        <p:spPr>
          <a:xfrm>
            <a:off x="4480560" y="514807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Read-only PAT → reissued token with write access</a:t>
            </a:r>
            <a:endParaRPr lang="en-US" sz="1080" dirty="0"/>
          </a:p>
        </p:txBody>
      </p:sp>
      <p:sp>
        <p:nvSpPr>
          <p:cNvPr id="28" name="Shape 26"/>
          <p:cNvSpPr/>
          <p:nvPr/>
        </p:nvSpPr>
        <p:spPr>
          <a:xfrm>
            <a:off x="8092440" y="4709160"/>
            <a:ext cx="3657600" cy="1417320"/>
          </a:xfrm>
          <a:prstGeom prst="roundRect">
            <a:avLst>
              <a:gd name="adj" fmla="val 5161"/>
            </a:avLst>
          </a:prstGeom>
          <a:solidFill>
            <a:srgbClr val="0D3A52"/>
          </a:solidFill>
          <a:ln w="12700">
            <a:solidFill>
              <a:srgbClr val="1E4E66"/>
            </a:solidFill>
            <a:prstDash val="solid"/>
          </a:ln>
        </p:spPr>
      </p:sp>
      <p:sp>
        <p:nvSpPr>
          <p:cNvPr id="29" name="Text 27"/>
          <p:cNvSpPr/>
          <p:nvPr/>
        </p:nvSpPr>
        <p:spPr>
          <a:xfrm>
            <a:off x="8275320" y="4837176"/>
            <a:ext cx="3291840" cy="274320"/>
          </a:xfrm>
          <a:prstGeom prst="rect">
            <a:avLst/>
          </a:prstGeom>
          <a:noFill/>
          <a:ln/>
        </p:spPr>
        <p:txBody>
          <a:bodyPr wrap="square" rtlCol="0" anchor="ctr"/>
          <a:lstStyle/>
          <a:p>
            <a:pPr indent="0" marL="0">
              <a:buNone/>
            </a:pPr>
            <a:r>
              <a:rPr lang="en-US" sz="1250" b="1" dirty="0">
                <a:solidFill>
                  <a:srgbClr val="F2A65A"/>
                </a:solidFill>
                <a:latin typeface="Cambria" pitchFamily="34" charset="0"/>
                <a:ea typeface="Cambria" pitchFamily="34" charset="-122"/>
                <a:cs typeface="Cambria" pitchFamily="34" charset="-120"/>
              </a:rPr>
              <a:t>Branch divergence</a:t>
            </a:r>
            <a:endParaRPr lang="en-US" sz="1250" dirty="0"/>
          </a:p>
        </p:txBody>
      </p:sp>
      <p:sp>
        <p:nvSpPr>
          <p:cNvPr id="30" name="Text 28"/>
          <p:cNvSpPr/>
          <p:nvPr/>
        </p:nvSpPr>
        <p:spPr>
          <a:xfrm>
            <a:off x="8275320" y="5148072"/>
            <a:ext cx="3291840" cy="868680"/>
          </a:xfrm>
          <a:prstGeom prst="rect">
            <a:avLst/>
          </a:prstGeom>
          <a:noFill/>
          <a:ln/>
        </p:spPr>
        <p:txBody>
          <a:bodyPr wrap="square" rtlCol="0" anchor="ctr"/>
          <a:lstStyle/>
          <a:p>
            <a:pPr indent="0" marL="0">
              <a:lnSpc>
                <a:spcPct val="115000"/>
              </a:lnSpc>
              <a:buNone/>
            </a:pPr>
            <a:r>
              <a:rPr lang="en-US" sz="1080" dirty="0">
                <a:solidFill>
                  <a:srgbClr val="D6E5EA"/>
                </a:solidFill>
                <a:latin typeface="Calibri" pitchFamily="34" charset="0"/>
                <a:ea typeface="Calibri" pitchFamily="34" charset="-122"/>
                <a:cs typeface="Calibri" pitchFamily="34" charset="-120"/>
              </a:rPr>
              <a:t>Non-fast-forward push → merged with --no-rebase --allow-unrelated-histories</a:t>
            </a:r>
            <a:endParaRPr lang="en-US" sz="1080" dirty="0"/>
          </a:p>
        </p:txBody>
      </p:sp>
      <p:sp>
        <p:nvSpPr>
          <p:cNvPr id="31" name="Text 29"/>
          <p:cNvSpPr/>
          <p:nvPr/>
        </p:nvSpPr>
        <p:spPr>
          <a:xfrm>
            <a:off x="502920" y="6400800"/>
            <a:ext cx="7315200" cy="320040"/>
          </a:xfrm>
          <a:prstGeom prst="rect">
            <a:avLst/>
          </a:prstGeom>
          <a:noFill/>
          <a:ln/>
        </p:spPr>
        <p:txBody>
          <a:bodyPr wrap="square" rtlCol="0" anchor="ctr"/>
          <a:lstStyle/>
          <a:p>
            <a:pPr indent="0" marL="0">
              <a:buNone/>
            </a:pPr>
            <a:r>
              <a:rPr lang="en-US" sz="1200" dirty="0">
                <a:solidFill>
                  <a:srgbClr val="9FB4C0"/>
                </a:solidFill>
                <a:latin typeface="Consolas" pitchFamily="34" charset="0"/>
                <a:ea typeface="Consolas" pitchFamily="34" charset="-122"/>
                <a:cs typeface="Consolas" pitchFamily="34" charset="-120"/>
              </a:rPr>
              <a:t>Ruchir20/k8s-observability-pipeline</a:t>
            </a:r>
            <a:endParaRPr lang="en-US" sz="1200" dirty="0"/>
          </a:p>
        </p:txBody>
      </p:sp>
      <p:sp>
        <p:nvSpPr>
          <p:cNvPr id="32" name="Text 30"/>
          <p:cNvSpPr/>
          <p:nvPr/>
        </p:nvSpPr>
        <p:spPr>
          <a:xfrm>
            <a:off x="8686800" y="6400800"/>
            <a:ext cx="3017520" cy="320040"/>
          </a:xfrm>
          <a:prstGeom prst="rect">
            <a:avLst/>
          </a:prstGeom>
          <a:noFill/>
          <a:ln/>
        </p:spPr>
        <p:txBody>
          <a:bodyPr wrap="square" rtlCol="0" anchor="ctr"/>
          <a:lstStyle/>
          <a:p>
            <a:pPr algn="r" indent="0" marL="0">
              <a:buNone/>
            </a:pPr>
            <a:r>
              <a:rPr lang="en-US" sz="1400" b="1" dirty="0">
                <a:solidFill>
                  <a:srgbClr val="FFFFFF"/>
                </a:solidFill>
                <a:latin typeface="Cambria" pitchFamily="34" charset="0"/>
                <a:ea typeface="Cambria" pitchFamily="34" charset="-122"/>
                <a:cs typeface="Cambria" pitchFamily="34" charset="-120"/>
              </a:rPr>
              <a:t>Thank you</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2026-09-04T11:04:05Z</dcterms:created>
  <dcterms:modified xsi:type="dcterms:W3CDTF">2026-09-04T11:04:05Z</dcterms:modified>
</cp:coreProperties>
</file>